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Bitter SemiBold"/>
      <p:regular r:id="rId201314"/>
    </p:embeddedFont>
    <p:embeddedFont>
      <p:font typeface="Bitter"/>
      <p:regular r:id="rId201315"/>
    </p:embeddedFont>
    <p:embeddedFont>
      <p:font typeface="Bitter Bold"/>
      <p:regular r:id="rId201316"/>
    </p:embeddedFont>
    <p:embeddedFont>
      <p:font typeface="Jost"/>
      <p:regular r:id="rId201317"/>
    </p:embeddedFont>
    <p:embeddedFont>
      <p:font typeface="Jost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leadership. Today's review analyzes 600 transactions from January 2025 through June 2026 to pinpoint where revenue expansion is solid and where margin discipline must tighten.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core signals: 600 transactions analyzed, South and West setting the sales pace, Laptops and Tablets dividing volume and margin roles, a 10% discount cap needed to stop margin leakage, and predictable seasonal swings.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is the undisputed anchor at ₹64.18M, followed by West at ₹48.15M. North and Central lag closely at ₹34.94M and ₹33.49M, indicating need for dedicated promotional tests rather than unfocused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two-speed dynamic: Laptops generate over half of total revenue (51.65%), so premium models NovaBook Air and NovaBook Pro must lead incentives. Tablets deliver 29.17% margin, while Smartphones require accessory bundling to protect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Rohit leads the entire rep roster at ₹29.96M. Compare execution across Online, Distributor, Direct Sales, and Retail channels to codify what Rohit and the top reps are doing differently to close high-value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April and July as the two major sales peaks requiring advance stocking, while June and November represent slower months that call for structured, targeted campaign pushes rather than panicky price slashing.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margin leakage finding. Standard deals must stay capped below 10% discount. Concessions above 10% dilute net profitability and should require formal Deal Desk approval reserved for genuine bulk commitments or clearance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roadmap into five clear actions: protect South and West, test North and Central, bundle Smartphones with Accessories while incentivizing NovaBooks, enforce the 10% discount threshold, and build inventory ahead of the April-July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the clear strategic mandate: growth at NovaTech does not mean doing everything everywhere. It means scaling where we win, defending margin with discipline, and aligning inventory with real customer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710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7102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710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780" y="1270000"/>
            <a:ext cx="6603835" cy="4318000"/>
          </a:xfrm>
          <a:prstGeom prst="rect">
            <a:avLst/>
          </a:prstGeom>
          <a:noFill/>
          <a:ln w="12700">
            <a:solidFill>
              <a:srgbClr val="FFFFFF">
                <a:alpha val="35000"/>
              </a:srgbClr>
            </a:solidFill>
            <a:prstDash val="solid"/>
          </a:ln>
        </p:spPr>
      </p:sp>
      <p:sp>
        <p:nvSpPr>
          <p:cNvPr id="3" name="Shape 1"/>
          <p:cNvSpPr/>
          <p:nvPr/>
        </p:nvSpPr>
        <p:spPr>
          <a:xfrm>
            <a:off x="825479" y="1282700"/>
            <a:ext cx="6578435" cy="4292600"/>
          </a:xfrm>
          <a:prstGeom prst="rect">
            <a:avLst/>
          </a:prstGeom>
          <a:solidFill>
            <a:srgbClr val="000000">
              <a:alpha val="38000"/>
            </a:srgbClr>
          </a:solidFill>
          <a:ln/>
        </p:spPr>
      </p:sp>
      <p:sp>
        <p:nvSpPr>
          <p:cNvPr id="4" name="Text 2"/>
          <p:cNvSpPr/>
          <p:nvPr/>
        </p:nvSpPr>
        <p:spPr>
          <a:xfrm>
            <a:off x="1282668" y="2440682"/>
            <a:ext cx="6273643"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EXECUTIVE PERFORMANCE REVIEW · JAN 2025–JUN 2026</a:t>
            </a:r>
            <a:endParaRPr lang="en-US" sz="1050" dirty="0"/>
          </a:p>
        </p:txBody>
      </p:sp>
      <p:sp>
        <p:nvSpPr>
          <p:cNvPr id="5" name="Text 3"/>
          <p:cNvSpPr/>
          <p:nvPr/>
        </p:nvSpPr>
        <p:spPr>
          <a:xfrm>
            <a:off x="1282668" y="2700338"/>
            <a:ext cx="5664058" cy="1005681"/>
          </a:xfrm>
          <a:prstGeom prst="rect">
            <a:avLst/>
          </a:prstGeom>
          <a:noFill/>
          <a:ln/>
        </p:spPr>
        <p:txBody>
          <a:bodyPr wrap="square" lIns="0" tIns="0" rIns="0" bIns="0" rtlCol="0" anchor="t">
            <a:normAutofit/>
          </a:bodyPr>
          <a:lstStyle/>
          <a:p>
            <a:pPr algn="l" indent="0" marL="0">
              <a:lnSpc>
                <a:spcPct val="92000"/>
              </a:lnSpc>
              <a:buNone/>
            </a:pPr>
            <a:r>
              <a:rPr lang="en-US" sz="3600" dirty="0">
                <a:solidFill>
                  <a:srgbClr val="FFFFFF"/>
                </a:solidFill>
                <a:latin typeface="Jost" pitchFamily="34" charset="0"/>
                <a:ea typeface="Jost" pitchFamily="34" charset="-122"/>
                <a:cs typeface="Jost" pitchFamily="34" charset="-120"/>
              </a:rPr>
              <a:t>NOVATECH SALES</a:t>
            </a:r>
            <a:endParaRPr lang="en-US" sz="3600" dirty="0"/>
          </a:p>
          <a:p>
            <a:pPr algn="l" indent="0" marL="0">
              <a:lnSpc>
                <a:spcPct val="92000"/>
              </a:lnSpc>
              <a:buNone/>
            </a:pPr>
            <a:r>
              <a:rPr lang="en-US" sz="3600" dirty="0">
                <a:solidFill>
                  <a:srgbClr val="FFFFFF"/>
                </a:solidFill>
                <a:latin typeface="Jost" pitchFamily="34" charset="0"/>
                <a:ea typeface="Jost" pitchFamily="34" charset="-122"/>
                <a:cs typeface="Jost" pitchFamily="34" charset="-120"/>
              </a:rPr>
              <a:t>PERFORMANCE</a:t>
            </a:r>
            <a:endParaRPr lang="en-US" sz="3600" dirty="0"/>
          </a:p>
        </p:txBody>
      </p:sp>
      <p:sp>
        <p:nvSpPr>
          <p:cNvPr id="6" name="Shape 4"/>
          <p:cNvSpPr/>
          <p:nvPr/>
        </p:nvSpPr>
        <p:spPr>
          <a:xfrm>
            <a:off x="1282668" y="3928269"/>
            <a:ext cx="1416015" cy="19050"/>
          </a:xfrm>
          <a:prstGeom prst="roundRect">
            <a:avLst>
              <a:gd name="adj" fmla="val 49999"/>
            </a:avLst>
          </a:prstGeom>
          <a:solidFill>
            <a:srgbClr val="4A3670"/>
          </a:solidFill>
          <a:ln/>
        </p:spPr>
      </p:sp>
      <p:sp>
        <p:nvSpPr>
          <p:cNvPr id="7" name="Text 5"/>
          <p:cNvSpPr/>
          <p:nvPr/>
        </p:nvSpPr>
        <p:spPr>
          <a:xfrm>
            <a:off x="1282668" y="4150519"/>
            <a:ext cx="6273643" cy="266700"/>
          </a:xfrm>
          <a:prstGeom prst="rect">
            <a:avLst/>
          </a:prstGeom>
          <a:noFill/>
          <a:ln/>
        </p:spPr>
        <p:txBody>
          <a:bodyPr wrap="none" lIns="0" tIns="0" rIns="0" bIns="0" rtlCol="0" anchor="t"/>
          <a:lstStyle/>
          <a:p>
            <a:pPr algn="l" indent="0" marL="0">
              <a:lnSpc>
                <a:spcPct val="117000"/>
              </a:lnSpc>
              <a:buNone/>
            </a:pPr>
            <a:r>
              <a:rPr lang="en-US" sz="1500" dirty="0">
                <a:solidFill>
                  <a:srgbClr val="FFFFFF"/>
                </a:solidFill>
                <a:latin typeface="Bitter" pitchFamily="34" charset="0"/>
                <a:ea typeface="Bitter" pitchFamily="34" charset="-122"/>
                <a:cs typeface="Bitter" pitchFamily="34" charset="-120"/>
              </a:rPr>
              <a:t>Where growth is working, and where margin is leaking.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707654"/>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01 — EXECUTIVE BRIEFING</a:t>
            </a:r>
            <a:endParaRPr lang="en-US" sz="1050" dirty="0"/>
          </a:p>
        </p:txBody>
      </p:sp>
      <p:sp>
        <p:nvSpPr>
          <p:cNvPr id="3" name="Text 1"/>
          <p:cNvSpPr/>
          <p:nvPr/>
        </p:nvSpPr>
        <p:spPr>
          <a:xfrm>
            <a:off x="609585" y="1967309"/>
            <a:ext cx="10972526" cy="446980"/>
          </a:xfrm>
          <a:prstGeom prst="rect">
            <a:avLst/>
          </a:prstGeom>
          <a:noFill/>
          <a:ln/>
        </p:spPr>
        <p:txBody>
          <a:bodyPr wrap="none" lIns="0" tIns="0" rIns="0" bIns="0" rtlCol="0" anchor="t"/>
          <a:lstStyle/>
          <a:p>
            <a:pPr algn="l" indent="0" marL="0">
              <a:lnSpc>
                <a:spcPct val="92000"/>
              </a:lnSpc>
              <a:buNone/>
            </a:pPr>
            <a:r>
              <a:rPr lang="en-US" sz="3200" dirty="0">
                <a:solidFill>
                  <a:srgbClr val="F2EDFB"/>
                </a:solidFill>
                <a:latin typeface="Jost" pitchFamily="34" charset="0"/>
                <a:ea typeface="Jost" pitchFamily="34" charset="-122"/>
                <a:cs typeface="Jost" pitchFamily="34" charset="-120"/>
              </a:rPr>
              <a:t>FIVE SIGNALS SHOULD GUIDE THE NEXT SALES CYCLE</a:t>
            </a:r>
            <a:endParaRPr lang="en-US" sz="3200" dirty="0"/>
          </a:p>
        </p:txBody>
      </p:sp>
      <p:sp>
        <p:nvSpPr>
          <p:cNvPr id="4" name="Text 2"/>
          <p:cNvSpPr/>
          <p:nvPr/>
        </p:nvSpPr>
        <p:spPr>
          <a:xfrm>
            <a:off x="609585" y="2592090"/>
            <a:ext cx="11582110"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An audit of 600 transactions across Jan 2025–Jun 2026 establishes clear geographic, product, and channel boundaries.</a:t>
            </a:r>
            <a:endParaRPr lang="en-US" sz="1200" dirty="0"/>
          </a:p>
        </p:txBody>
      </p:sp>
      <p:sp>
        <p:nvSpPr>
          <p:cNvPr id="5" name="Shape 3"/>
          <p:cNvSpPr/>
          <p:nvPr/>
        </p:nvSpPr>
        <p:spPr>
          <a:xfrm>
            <a:off x="609585" y="2983210"/>
            <a:ext cx="1950691" cy="2167136"/>
          </a:xfrm>
          <a:prstGeom prst="roundRect">
            <a:avLst>
              <a:gd name="adj" fmla="val 586"/>
            </a:avLst>
          </a:prstGeom>
          <a:solidFill>
            <a:srgbClr val="17102B"/>
          </a:solidFill>
          <a:ln w="12700">
            <a:solidFill>
              <a:srgbClr val="4A3670"/>
            </a:solidFill>
            <a:prstDash val="solid"/>
          </a:ln>
        </p:spPr>
      </p:sp>
      <p:sp>
        <p:nvSpPr>
          <p:cNvPr id="6" name="Text 4"/>
          <p:cNvSpPr/>
          <p:nvPr/>
        </p:nvSpPr>
        <p:spPr>
          <a:xfrm>
            <a:off x="800080" y="3199110"/>
            <a:ext cx="1760196"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TRANSACTIONS</a:t>
            </a:r>
            <a:endParaRPr lang="en-US" sz="1050" dirty="0"/>
          </a:p>
        </p:txBody>
      </p:sp>
      <p:sp>
        <p:nvSpPr>
          <p:cNvPr id="7" name="Text 5"/>
          <p:cNvSpPr/>
          <p:nvPr/>
        </p:nvSpPr>
        <p:spPr>
          <a:xfrm>
            <a:off x="800080" y="3458766"/>
            <a:ext cx="1569701" cy="355600"/>
          </a:xfrm>
          <a:prstGeom prst="rect">
            <a:avLst/>
          </a:prstGeom>
          <a:noFill/>
          <a:ln/>
        </p:spPr>
        <p:txBody>
          <a:bodyPr wrap="none" lIns="0" tIns="0" rIns="0" bIns="0" rtlCol="0" anchor="t"/>
          <a:lstStyle/>
          <a:p>
            <a:pPr algn="l" indent="0" marL="0">
              <a:lnSpc>
                <a:spcPct val="83000"/>
              </a:lnSpc>
              <a:buNone/>
            </a:pPr>
            <a:r>
              <a:rPr lang="en-US" sz="2800" dirty="0">
                <a:solidFill>
                  <a:srgbClr val="FFFFFF"/>
                </a:solidFill>
                <a:latin typeface="Jost" pitchFamily="34" charset="0"/>
                <a:ea typeface="Jost" pitchFamily="34" charset="-122"/>
                <a:cs typeface="Jost" pitchFamily="34" charset="-120"/>
              </a:rPr>
              <a:t>600</a:t>
            </a:r>
            <a:endParaRPr lang="en-US" sz="2800" dirty="0"/>
          </a:p>
        </p:txBody>
      </p:sp>
      <p:sp>
        <p:nvSpPr>
          <p:cNvPr id="8" name="Text 6"/>
          <p:cNvSpPr/>
          <p:nvPr/>
        </p:nvSpPr>
        <p:spPr>
          <a:xfrm>
            <a:off x="800080" y="3992166"/>
            <a:ext cx="1569701" cy="58668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Transactions analyzed across the full 18-month baseline period.</a:t>
            </a:r>
            <a:endParaRPr lang="en-US" sz="1100" dirty="0"/>
          </a:p>
        </p:txBody>
      </p:sp>
      <p:sp>
        <p:nvSpPr>
          <p:cNvPr id="9" name="Shape 7"/>
          <p:cNvSpPr/>
          <p:nvPr/>
        </p:nvSpPr>
        <p:spPr>
          <a:xfrm>
            <a:off x="2864969" y="2983210"/>
            <a:ext cx="1950691" cy="2167136"/>
          </a:xfrm>
          <a:prstGeom prst="roundRect">
            <a:avLst>
              <a:gd name="adj" fmla="val 586"/>
            </a:avLst>
          </a:prstGeom>
          <a:solidFill>
            <a:srgbClr val="17102B"/>
          </a:solidFill>
          <a:ln w="12700">
            <a:solidFill>
              <a:srgbClr val="4A3670"/>
            </a:solidFill>
            <a:prstDash val="solid"/>
          </a:ln>
        </p:spPr>
      </p:sp>
      <p:sp>
        <p:nvSpPr>
          <p:cNvPr id="10" name="Text 8"/>
          <p:cNvSpPr/>
          <p:nvPr/>
        </p:nvSpPr>
        <p:spPr>
          <a:xfrm>
            <a:off x="3055464" y="3199110"/>
            <a:ext cx="1760196"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LEAD REGIONS</a:t>
            </a:r>
            <a:endParaRPr lang="en-US" sz="1050" dirty="0"/>
          </a:p>
        </p:txBody>
      </p:sp>
      <p:sp>
        <p:nvSpPr>
          <p:cNvPr id="11" name="Text 9"/>
          <p:cNvSpPr/>
          <p:nvPr/>
        </p:nvSpPr>
        <p:spPr>
          <a:xfrm>
            <a:off x="3055464" y="3458766"/>
            <a:ext cx="1569701" cy="711200"/>
          </a:xfrm>
          <a:prstGeom prst="rect">
            <a:avLst/>
          </a:prstGeom>
          <a:noFill/>
          <a:ln/>
        </p:spPr>
        <p:txBody>
          <a:bodyPr wrap="square" lIns="0" tIns="0" rIns="0" bIns="0" rtlCol="0" anchor="t">
            <a:normAutofit/>
          </a:bodyPr>
          <a:lstStyle/>
          <a:p>
            <a:pPr algn="l" indent="0" marL="0">
              <a:lnSpc>
                <a:spcPct val="83000"/>
              </a:lnSpc>
              <a:buNone/>
            </a:pPr>
            <a:r>
              <a:rPr lang="en-US" sz="2800" dirty="0">
                <a:solidFill>
                  <a:srgbClr val="FFFFFF"/>
                </a:solidFill>
                <a:latin typeface="Jost" pitchFamily="34" charset="0"/>
                <a:ea typeface="Jost" pitchFamily="34" charset="-122"/>
                <a:cs typeface="Jost" pitchFamily="34" charset="-120"/>
              </a:rPr>
              <a:t>South &amp; West</a:t>
            </a:r>
            <a:endParaRPr lang="en-US" sz="2800" dirty="0"/>
          </a:p>
        </p:txBody>
      </p:sp>
      <p:sp>
        <p:nvSpPr>
          <p:cNvPr id="12" name="Text 10"/>
          <p:cNvSpPr/>
          <p:nvPr/>
        </p:nvSpPr>
        <p:spPr>
          <a:xfrm>
            <a:off x="3055464" y="4347766"/>
            <a:ext cx="1569701" cy="58668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Generate the overwhelming share of regional sales volume.</a:t>
            </a:r>
            <a:endParaRPr lang="en-US" sz="1100" dirty="0"/>
          </a:p>
        </p:txBody>
      </p:sp>
      <p:sp>
        <p:nvSpPr>
          <p:cNvPr id="13" name="Shape 11"/>
          <p:cNvSpPr/>
          <p:nvPr/>
        </p:nvSpPr>
        <p:spPr>
          <a:xfrm>
            <a:off x="5120353" y="2983210"/>
            <a:ext cx="1950889" cy="2167136"/>
          </a:xfrm>
          <a:prstGeom prst="roundRect">
            <a:avLst>
              <a:gd name="adj" fmla="val 586"/>
            </a:avLst>
          </a:prstGeom>
          <a:solidFill>
            <a:srgbClr val="4A3670"/>
          </a:solidFill>
          <a:ln w="12700">
            <a:solidFill>
              <a:srgbClr val="7C3AED"/>
            </a:solidFill>
            <a:prstDash val="solid"/>
          </a:ln>
        </p:spPr>
      </p:sp>
      <p:sp>
        <p:nvSpPr>
          <p:cNvPr id="14" name="Text 12"/>
          <p:cNvSpPr/>
          <p:nvPr/>
        </p:nvSpPr>
        <p:spPr>
          <a:xfrm>
            <a:off x="5310848" y="3199110"/>
            <a:ext cx="1760394"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FFFFFF"/>
                </a:solidFill>
                <a:latin typeface="Bitter" pitchFamily="34" charset="0"/>
                <a:ea typeface="Bitter" pitchFamily="34" charset="-122"/>
                <a:cs typeface="Bitter" pitchFamily="34" charset="-120"/>
              </a:rPr>
              <a:t>PORTFOLIO MIX</a:t>
            </a:r>
            <a:endParaRPr lang="en-US" sz="1050" dirty="0"/>
          </a:p>
        </p:txBody>
      </p:sp>
      <p:sp>
        <p:nvSpPr>
          <p:cNvPr id="15" name="Text 13"/>
          <p:cNvSpPr/>
          <p:nvPr/>
        </p:nvSpPr>
        <p:spPr>
          <a:xfrm>
            <a:off x="5310848" y="3458766"/>
            <a:ext cx="1569899" cy="355600"/>
          </a:xfrm>
          <a:prstGeom prst="rect">
            <a:avLst/>
          </a:prstGeom>
          <a:noFill/>
          <a:ln/>
        </p:spPr>
        <p:txBody>
          <a:bodyPr wrap="none" lIns="0" tIns="0" rIns="0" bIns="0" rtlCol="0" anchor="t"/>
          <a:lstStyle/>
          <a:p>
            <a:pPr algn="l" indent="0" marL="0">
              <a:lnSpc>
                <a:spcPct val="83000"/>
              </a:lnSpc>
              <a:buNone/>
            </a:pPr>
            <a:r>
              <a:rPr lang="en-US" sz="2800" dirty="0">
                <a:solidFill>
                  <a:srgbClr val="FFFFFF"/>
                </a:solidFill>
                <a:latin typeface="Jost" pitchFamily="34" charset="0"/>
                <a:ea typeface="Jost" pitchFamily="34" charset="-122"/>
                <a:cs typeface="Jost" pitchFamily="34" charset="-120"/>
              </a:rPr>
              <a:t>Dual Core</a:t>
            </a:r>
            <a:endParaRPr lang="en-US" sz="2800" dirty="0"/>
          </a:p>
        </p:txBody>
      </p:sp>
      <p:sp>
        <p:nvSpPr>
          <p:cNvPr id="16" name="Text 14"/>
          <p:cNvSpPr/>
          <p:nvPr/>
        </p:nvSpPr>
        <p:spPr>
          <a:xfrm>
            <a:off x="5310848" y="3992166"/>
            <a:ext cx="1569899" cy="782241"/>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Laptops dominate revenue share; Tablets deliver standout margin.</a:t>
            </a:r>
            <a:endParaRPr lang="en-US" sz="1100" dirty="0"/>
          </a:p>
        </p:txBody>
      </p:sp>
      <p:sp>
        <p:nvSpPr>
          <p:cNvPr id="17" name="Shape 15"/>
          <p:cNvSpPr/>
          <p:nvPr/>
        </p:nvSpPr>
        <p:spPr>
          <a:xfrm>
            <a:off x="7375936" y="2983210"/>
            <a:ext cx="1950691" cy="2167136"/>
          </a:xfrm>
          <a:prstGeom prst="roundRect">
            <a:avLst>
              <a:gd name="adj" fmla="val 586"/>
            </a:avLst>
          </a:prstGeom>
          <a:solidFill>
            <a:srgbClr val="17102B"/>
          </a:solidFill>
          <a:ln w="12700">
            <a:solidFill>
              <a:srgbClr val="4A3670"/>
            </a:solidFill>
            <a:prstDash val="solid"/>
          </a:ln>
        </p:spPr>
      </p:sp>
      <p:sp>
        <p:nvSpPr>
          <p:cNvPr id="18" name="Text 16"/>
          <p:cNvSpPr/>
          <p:nvPr/>
        </p:nvSpPr>
        <p:spPr>
          <a:xfrm>
            <a:off x="7566431" y="3199110"/>
            <a:ext cx="1760196"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GUARDRAIL</a:t>
            </a:r>
            <a:endParaRPr lang="en-US" sz="1050" dirty="0"/>
          </a:p>
        </p:txBody>
      </p:sp>
      <p:sp>
        <p:nvSpPr>
          <p:cNvPr id="19" name="Text 17"/>
          <p:cNvSpPr/>
          <p:nvPr/>
        </p:nvSpPr>
        <p:spPr>
          <a:xfrm>
            <a:off x="7566431" y="3458766"/>
            <a:ext cx="1569701" cy="711200"/>
          </a:xfrm>
          <a:prstGeom prst="rect">
            <a:avLst/>
          </a:prstGeom>
          <a:noFill/>
          <a:ln/>
        </p:spPr>
        <p:txBody>
          <a:bodyPr wrap="square" lIns="0" tIns="0" rIns="0" bIns="0" rtlCol="0" anchor="t">
            <a:normAutofit/>
          </a:bodyPr>
          <a:lstStyle/>
          <a:p>
            <a:pPr algn="l" indent="0" marL="0">
              <a:lnSpc>
                <a:spcPct val="83000"/>
              </a:lnSpc>
              <a:buNone/>
            </a:pPr>
            <a:r>
              <a:rPr lang="en-US" sz="2800" dirty="0">
                <a:solidFill>
                  <a:srgbClr val="FFFFFF"/>
                </a:solidFill>
                <a:latin typeface="Jost" pitchFamily="34" charset="0"/>
                <a:ea typeface="Jost" pitchFamily="34" charset="-122"/>
                <a:cs typeface="Jost" pitchFamily="34" charset="-120"/>
              </a:rPr>
              <a:t>&gt;10% Cap</a:t>
            </a:r>
            <a:endParaRPr lang="en-US" sz="2800" dirty="0"/>
          </a:p>
        </p:txBody>
      </p:sp>
      <p:sp>
        <p:nvSpPr>
          <p:cNvPr id="20" name="Text 18"/>
          <p:cNvSpPr/>
          <p:nvPr/>
        </p:nvSpPr>
        <p:spPr>
          <a:xfrm>
            <a:off x="7566431" y="4347766"/>
            <a:ext cx="1569701" cy="58668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Discounts above 10% erode profitability and require tight approval.</a:t>
            </a:r>
            <a:endParaRPr lang="en-US" sz="1100" dirty="0"/>
          </a:p>
        </p:txBody>
      </p:sp>
      <p:sp>
        <p:nvSpPr>
          <p:cNvPr id="21" name="Shape 19"/>
          <p:cNvSpPr/>
          <p:nvPr/>
        </p:nvSpPr>
        <p:spPr>
          <a:xfrm>
            <a:off x="9631320" y="2983210"/>
            <a:ext cx="1950790" cy="2167136"/>
          </a:xfrm>
          <a:prstGeom prst="roundRect">
            <a:avLst>
              <a:gd name="adj" fmla="val 586"/>
            </a:avLst>
          </a:prstGeom>
          <a:solidFill>
            <a:srgbClr val="17102B"/>
          </a:solidFill>
          <a:ln w="12700">
            <a:solidFill>
              <a:srgbClr val="4A3670"/>
            </a:solidFill>
            <a:prstDash val="solid"/>
          </a:ln>
        </p:spPr>
      </p:sp>
      <p:sp>
        <p:nvSpPr>
          <p:cNvPr id="22" name="Text 20"/>
          <p:cNvSpPr/>
          <p:nvPr/>
        </p:nvSpPr>
        <p:spPr>
          <a:xfrm>
            <a:off x="9821815" y="3199110"/>
            <a:ext cx="176029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RHYTHM</a:t>
            </a:r>
            <a:endParaRPr lang="en-US" sz="1050" dirty="0"/>
          </a:p>
        </p:txBody>
      </p:sp>
      <p:sp>
        <p:nvSpPr>
          <p:cNvPr id="23" name="Text 21"/>
          <p:cNvSpPr/>
          <p:nvPr/>
        </p:nvSpPr>
        <p:spPr>
          <a:xfrm>
            <a:off x="9821815" y="3458766"/>
            <a:ext cx="1569800" cy="355600"/>
          </a:xfrm>
          <a:prstGeom prst="rect">
            <a:avLst/>
          </a:prstGeom>
          <a:noFill/>
          <a:ln/>
        </p:spPr>
        <p:txBody>
          <a:bodyPr wrap="none" lIns="0" tIns="0" rIns="0" bIns="0" rtlCol="0" anchor="t"/>
          <a:lstStyle/>
          <a:p>
            <a:pPr algn="l" indent="0" marL="0">
              <a:lnSpc>
                <a:spcPct val="83000"/>
              </a:lnSpc>
              <a:buNone/>
            </a:pPr>
            <a:r>
              <a:rPr lang="en-US" sz="2800" dirty="0">
                <a:solidFill>
                  <a:srgbClr val="FFFFFF"/>
                </a:solidFill>
                <a:latin typeface="Jost" pitchFamily="34" charset="0"/>
                <a:ea typeface="Jost" pitchFamily="34" charset="-122"/>
                <a:cs typeface="Jost" pitchFamily="34" charset="-120"/>
              </a:rPr>
              <a:t>Seasonal</a:t>
            </a:r>
            <a:endParaRPr lang="en-US" sz="2800" dirty="0"/>
          </a:p>
        </p:txBody>
      </p:sp>
      <p:sp>
        <p:nvSpPr>
          <p:cNvPr id="24" name="Text 22"/>
          <p:cNvSpPr/>
          <p:nvPr/>
        </p:nvSpPr>
        <p:spPr>
          <a:xfrm>
            <a:off x="9821815" y="3992166"/>
            <a:ext cx="1569800" cy="782241"/>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Clear peak and trough months set a predictable operating calendar.</a:t>
            </a:r>
            <a:endParaRPr lang="en-US" sz="1100" dirty="0"/>
          </a:p>
        </p:txBody>
      </p:sp>
      <p:sp>
        <p:nvSpPr>
          <p:cNvPr id="25" name="Text 23"/>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26" name="Text 24"/>
          <p:cNvSpPr/>
          <p:nvPr/>
        </p:nvSpPr>
        <p:spPr>
          <a:xfrm>
            <a:off x="11514346" y="6466086"/>
            <a:ext cx="677349"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1565771"/>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02 — REGIONAL FOOTPRINT</a:t>
            </a:r>
            <a:endParaRPr lang="en-US" sz="1050" dirty="0"/>
          </a:p>
        </p:txBody>
      </p:sp>
      <p:sp>
        <p:nvSpPr>
          <p:cNvPr id="3" name="Text 1"/>
          <p:cNvSpPr/>
          <p:nvPr/>
        </p:nvSpPr>
        <p:spPr>
          <a:xfrm>
            <a:off x="609585" y="1911152"/>
            <a:ext cx="3378115" cy="812800"/>
          </a:xfrm>
          <a:prstGeom prst="rect">
            <a:avLst/>
          </a:prstGeom>
          <a:noFill/>
          <a:ln/>
        </p:spPr>
        <p:txBody>
          <a:bodyPr wrap="square" lIns="0" tIns="0" rIns="0" bIns="0" rtlCol="0" anchor="t">
            <a:normAutofit/>
          </a:bodyPr>
          <a:lstStyle/>
          <a:p>
            <a:pPr algn="l" indent="0" marL="0">
              <a:lnSpc>
                <a:spcPct val="83000"/>
              </a:lnSpc>
              <a:buNone/>
            </a:pPr>
            <a:r>
              <a:rPr lang="en-US" sz="3200" dirty="0">
                <a:solidFill>
                  <a:srgbClr val="F2EDFB"/>
                </a:solidFill>
                <a:latin typeface="Jost" pitchFamily="34" charset="0"/>
                <a:ea typeface="Jost" pitchFamily="34" charset="-122"/>
                <a:cs typeface="Jost" pitchFamily="34" charset="-120"/>
              </a:rPr>
              <a:t>SOUTH LEADS THE MAP</a:t>
            </a:r>
            <a:endParaRPr lang="en-US" sz="3200" dirty="0"/>
          </a:p>
        </p:txBody>
      </p:sp>
      <p:sp>
        <p:nvSpPr>
          <p:cNvPr id="4" name="Shape 2"/>
          <p:cNvSpPr/>
          <p:nvPr/>
        </p:nvSpPr>
        <p:spPr>
          <a:xfrm>
            <a:off x="609585" y="2946202"/>
            <a:ext cx="3378115" cy="19050"/>
          </a:xfrm>
          <a:prstGeom prst="roundRect">
            <a:avLst>
              <a:gd name="adj" fmla="val 49999"/>
            </a:avLst>
          </a:prstGeom>
          <a:solidFill>
            <a:srgbClr val="4A3670"/>
          </a:solidFill>
          <a:ln/>
        </p:spPr>
      </p:sp>
      <p:sp>
        <p:nvSpPr>
          <p:cNvPr id="5" name="Text 3"/>
          <p:cNvSpPr/>
          <p:nvPr/>
        </p:nvSpPr>
        <p:spPr>
          <a:xfrm>
            <a:off x="609585" y="3168452"/>
            <a:ext cx="3378115" cy="558800"/>
          </a:xfrm>
          <a:prstGeom prst="rect">
            <a:avLst/>
          </a:prstGeom>
          <a:noFill/>
          <a:ln/>
        </p:spPr>
        <p:txBody>
          <a:bodyPr wrap="square" lIns="0" tIns="0" rIns="0" bIns="0" rtlCol="0" anchor="t">
            <a:normAutofit/>
          </a:bodyPr>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Central and North need a sharper growth plan.</a:t>
            </a:r>
            <a:endParaRPr lang="en-US" sz="2000" dirty="0"/>
          </a:p>
        </p:txBody>
      </p:sp>
      <p:sp>
        <p:nvSpPr>
          <p:cNvPr id="6" name="Text 4"/>
          <p:cNvSpPr/>
          <p:nvPr/>
        </p:nvSpPr>
        <p:spPr>
          <a:xfrm>
            <a:off x="609585" y="3854252"/>
            <a:ext cx="3378115" cy="63996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Protect momentum in the leaders while testing targeted marketing in underperforming markets.</a:t>
            </a:r>
            <a:endParaRPr lang="en-US" sz="1200" dirty="0"/>
          </a:p>
        </p:txBody>
      </p:sp>
      <p:sp>
        <p:nvSpPr>
          <p:cNvPr id="7" name="Text 5"/>
          <p:cNvSpPr/>
          <p:nvPr/>
        </p:nvSpPr>
        <p:spPr>
          <a:xfrm>
            <a:off x="609585" y="4598988"/>
            <a:ext cx="3378115" cy="693241"/>
          </a:xfrm>
          <a:prstGeom prst="rect">
            <a:avLst/>
          </a:prstGeom>
          <a:noFill/>
          <a:ln/>
        </p:spPr>
        <p:txBody>
          <a:bodyPr wrap="square" lIns="0" tIns="0" rIns="0" bIns="0" rtlCol="0" anchor="t">
            <a:normAutofit/>
          </a:bodyPr>
          <a:lstStyle/>
          <a:p>
            <a:pPr algn="l" indent="0" marL="0">
              <a:lnSpc>
                <a:spcPct val="117000"/>
              </a:lnSpc>
              <a:buNone/>
            </a:pPr>
            <a:r>
              <a:rPr lang="en-US" sz="1300" b="1" dirty="0">
                <a:solidFill>
                  <a:srgbClr val="F2EDFB"/>
                </a:solidFill>
                <a:latin typeface="Bitter Bold" pitchFamily="34" charset="0"/>
                <a:ea typeface="Bitter Bold" pitchFamily="34" charset="-122"/>
                <a:cs typeface="Bitter Bold" pitchFamily="34" charset="-120"/>
              </a:rPr>
              <a:t>South: ₹64.18M</a:t>
            </a:r>
            <a:pPr algn="l" indent="0" marL="0">
              <a:lnSpc>
                <a:spcPct val="117000"/>
              </a:lnSpc>
              <a:buNone/>
            </a:pPr>
            <a:r>
              <a:rPr lang="en-US" sz="1300" dirty="0">
                <a:solidFill>
                  <a:srgbClr val="F2EDFB"/>
                </a:solidFill>
                <a:latin typeface="Bitter" pitchFamily="34" charset="0"/>
                <a:ea typeface="Bitter" pitchFamily="34" charset="-122"/>
                <a:cs typeface="Bitter" pitchFamily="34" charset="-120"/>
              </a:rPr>
              <a:t> in sales · </a:t>
            </a:r>
            <a:pPr algn="l" indent="0" marL="0">
              <a:lnSpc>
                <a:spcPct val="117000"/>
              </a:lnSpc>
              <a:buNone/>
            </a:pPr>
            <a:r>
              <a:rPr lang="en-US" sz="1300" b="1" dirty="0">
                <a:solidFill>
                  <a:srgbClr val="F2EDFB"/>
                </a:solidFill>
                <a:latin typeface="Bitter Bold" pitchFamily="34" charset="0"/>
                <a:ea typeface="Bitter Bold" pitchFamily="34" charset="-122"/>
                <a:cs typeface="Bitter Bold" pitchFamily="34" charset="-120"/>
              </a:rPr>
              <a:t>West: ₹48.15M</a:t>
            </a:r>
            <a:pPr algn="l" indent="0" marL="0">
              <a:lnSpc>
                <a:spcPct val="117000"/>
              </a:lnSpc>
              <a:buNone/>
            </a:pPr>
            <a:r>
              <a:rPr lang="en-US" sz="1300" dirty="0">
                <a:solidFill>
                  <a:srgbClr val="F2EDFB"/>
                </a:solidFill>
                <a:latin typeface="Bitter" pitchFamily="34" charset="0"/>
                <a:ea typeface="Bitter" pitchFamily="34" charset="-122"/>
                <a:cs typeface="Bitter" pitchFamily="34" charset="-120"/>
              </a:rPr>
              <a:t> in sales</a:t>
            </a:r>
            <a:endParaRPr lang="en-US" sz="1300" dirty="0"/>
          </a:p>
          <a:p>
            <a:pPr algn="l" indent="0" marL="0">
              <a:lnSpc>
                <a:spcPct val="117000"/>
              </a:lnSpc>
              <a:buNone/>
            </a:pPr>
            <a:r>
              <a:rPr lang="en-US" sz="1300" b="1" dirty="0">
                <a:solidFill>
                  <a:srgbClr val="F2EDFB"/>
                </a:solidFill>
                <a:latin typeface="Bitter Bold" pitchFamily="34" charset="0"/>
                <a:ea typeface="Bitter Bold" pitchFamily="34" charset="-122"/>
                <a:cs typeface="Bitter Bold" pitchFamily="34" charset="-120"/>
              </a:rPr>
              <a:t>North: ₹34.94M</a:t>
            </a:r>
            <a:pPr algn="l" indent="0" marL="0">
              <a:lnSpc>
                <a:spcPct val="117000"/>
              </a:lnSpc>
              <a:buNone/>
            </a:pPr>
            <a:r>
              <a:rPr lang="en-US" sz="1300" dirty="0">
                <a:solidFill>
                  <a:srgbClr val="F2EDFB"/>
                </a:solidFill>
                <a:latin typeface="Bitter" pitchFamily="34" charset="0"/>
                <a:ea typeface="Bitter" pitchFamily="34" charset="-122"/>
                <a:cs typeface="Bitter" pitchFamily="34" charset="-120"/>
              </a:rPr>
              <a:t> · </a:t>
            </a:r>
            <a:pPr algn="l" indent="0" marL="0">
              <a:lnSpc>
                <a:spcPct val="117000"/>
              </a:lnSpc>
              <a:buNone/>
            </a:pPr>
            <a:r>
              <a:rPr lang="en-US" sz="1300" b="1" dirty="0">
                <a:solidFill>
                  <a:srgbClr val="F2EDFB"/>
                </a:solidFill>
                <a:latin typeface="Bitter Bold" pitchFamily="34" charset="0"/>
                <a:ea typeface="Bitter Bold" pitchFamily="34" charset="-122"/>
                <a:cs typeface="Bitter Bold" pitchFamily="34" charset="-120"/>
              </a:rPr>
              <a:t>Central: ₹33.49M</a:t>
            </a:r>
            <a:endParaRPr lang="en-US" sz="1300" dirty="0"/>
          </a:p>
        </p:txBody>
      </p:sp>
      <p:pic>
        <p:nvPicPr>
          <p:cNvPr id="8" name="Image 0" descr="preencoded.png">    </p:cNvPr>
          <p:cNvPicPr>
            <a:picLocks noChangeAspect="1"/>
          </p:cNvPicPr>
          <p:nvPr/>
        </p:nvPicPr>
        <p:blipFill>
          <a:blip r:embed="rId1"/>
          <a:stretch>
            <a:fillRect/>
          </a:stretch>
        </p:blipFill>
        <p:spPr>
          <a:xfrm>
            <a:off x="4292393" y="1981696"/>
            <a:ext cx="7111822" cy="3239889"/>
          </a:xfrm>
          <a:prstGeom prst="rect">
            <a:avLst/>
          </a:prstGeom>
        </p:spPr>
      </p:pic>
      <p:sp>
        <p:nvSpPr>
          <p:cNvPr id="9" name="Text 6"/>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10" name="Text 7"/>
          <p:cNvSpPr/>
          <p:nvPr/>
        </p:nvSpPr>
        <p:spPr>
          <a:xfrm>
            <a:off x="11511171" y="6466086"/>
            <a:ext cx="680524"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1892201"/>
            <a:ext cx="10972526" cy="893961"/>
          </a:xfrm>
          <a:prstGeom prst="rect">
            <a:avLst/>
          </a:prstGeom>
          <a:noFill/>
          <a:ln/>
        </p:spPr>
        <p:txBody>
          <a:bodyPr wrap="square" lIns="0" tIns="0" rIns="0" bIns="0" rtlCol="0" anchor="t">
            <a:normAutofit/>
          </a:bodyPr>
          <a:lstStyle/>
          <a:p>
            <a:pPr algn="l" indent="0" marL="0">
              <a:lnSpc>
                <a:spcPct val="92000"/>
              </a:lnSpc>
              <a:buNone/>
            </a:pPr>
            <a:r>
              <a:rPr lang="en-US" sz="3200" dirty="0">
                <a:solidFill>
                  <a:srgbClr val="F2EDFB"/>
                </a:solidFill>
                <a:latin typeface="Jost" pitchFamily="34" charset="0"/>
                <a:ea typeface="Jost" pitchFamily="34" charset="-122"/>
                <a:cs typeface="Jost" pitchFamily="34" charset="-120"/>
              </a:rPr>
              <a:t>The portfolio needs a two-speed strategy: scale Laptops, lift margin elsewhere</a:t>
            </a:r>
            <a:endParaRPr lang="en-US" sz="3200" dirty="0"/>
          </a:p>
        </p:txBody>
      </p:sp>
      <p:sp>
        <p:nvSpPr>
          <p:cNvPr id="3" name="Shape 1"/>
          <p:cNvSpPr/>
          <p:nvPr/>
        </p:nvSpPr>
        <p:spPr>
          <a:xfrm>
            <a:off x="609585" y="2963962"/>
            <a:ext cx="3454314" cy="2001837"/>
          </a:xfrm>
          <a:prstGeom prst="roundRect">
            <a:avLst>
              <a:gd name="adj" fmla="val 571"/>
            </a:avLst>
          </a:prstGeom>
          <a:noFill/>
          <a:ln w="19050">
            <a:solidFill>
              <a:srgbClr val="302944"/>
            </a:solidFill>
            <a:prstDash val="solid"/>
          </a:ln>
        </p:spPr>
      </p:sp>
      <p:sp>
        <p:nvSpPr>
          <p:cNvPr id="4" name="Text 2"/>
          <p:cNvSpPr/>
          <p:nvPr/>
        </p:nvSpPr>
        <p:spPr>
          <a:xfrm>
            <a:off x="857229" y="3211612"/>
            <a:ext cx="2959026"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Laptops</a:t>
            </a:r>
            <a:endParaRPr lang="en-US" sz="2000" dirty="0"/>
          </a:p>
        </p:txBody>
      </p:sp>
      <p:sp>
        <p:nvSpPr>
          <p:cNvPr id="5" name="Text 3"/>
          <p:cNvSpPr/>
          <p:nvPr/>
        </p:nvSpPr>
        <p:spPr>
          <a:xfrm>
            <a:off x="857229" y="3618012"/>
            <a:ext cx="2959026" cy="1100138"/>
          </a:xfrm>
          <a:prstGeom prst="rect">
            <a:avLst/>
          </a:prstGeom>
          <a:noFill/>
          <a:ln/>
        </p:spPr>
        <p:txBody>
          <a:bodyPr wrap="square" lIns="0" tIns="0" rIns="0" bIns="0" rtlCol="0" anchor="t"/>
          <a:lstStyle/>
          <a:p>
            <a:pPr algn="l" indent="0" marL="0">
              <a:lnSpc>
                <a:spcPct val="117000"/>
              </a:lnSpc>
              <a:spcAft>
                <a:spcPts val="800"/>
              </a:spcAft>
              <a:buNone/>
            </a:pPr>
            <a:r>
              <a:rPr lang="en-US" sz="1400" b="1" dirty="0">
                <a:solidFill>
                  <a:srgbClr val="F2EDFB"/>
                </a:solidFill>
                <a:latin typeface="Bitter Bold" pitchFamily="34" charset="0"/>
                <a:ea typeface="Bitter Bold" pitchFamily="34" charset="-122"/>
                <a:cs typeface="Bitter Bold" pitchFamily="34" charset="-120"/>
              </a:rPr>
              <a:t>51.65%</a:t>
            </a:r>
            <a:pPr algn="l" indent="0" marL="0">
              <a:lnSpc>
                <a:spcPct val="117000"/>
              </a:lnSpc>
              <a:spcAft>
                <a:spcPts val="800"/>
              </a:spcAft>
              <a:buNone/>
            </a:pPr>
            <a:r>
              <a:rPr lang="en-US" sz="1400" dirty="0">
                <a:solidFill>
                  <a:srgbClr val="F2EDFB"/>
                </a:solidFill>
                <a:latin typeface="Bitter" pitchFamily="34" charset="0"/>
                <a:ea typeface="Bitter" pitchFamily="34" charset="-122"/>
                <a:cs typeface="Bitter" pitchFamily="34" charset="-120"/>
              </a:rPr>
              <a:t> revenue share</a:t>
            </a:r>
            <a:endParaRPr lang="en-US" sz="1400" dirty="0"/>
          </a:p>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Prioritize premium products such as NovaBook Air and NovaBook Pro in incentives.</a:t>
            </a:r>
            <a:endParaRPr lang="en-US" sz="1400" dirty="0"/>
          </a:p>
        </p:txBody>
      </p:sp>
      <p:sp>
        <p:nvSpPr>
          <p:cNvPr id="6" name="Shape 4"/>
          <p:cNvSpPr/>
          <p:nvPr/>
        </p:nvSpPr>
        <p:spPr>
          <a:xfrm>
            <a:off x="4368691" y="2963962"/>
            <a:ext cx="3454314" cy="2001837"/>
          </a:xfrm>
          <a:prstGeom prst="roundRect">
            <a:avLst>
              <a:gd name="adj" fmla="val 571"/>
            </a:avLst>
          </a:prstGeom>
          <a:noFill/>
          <a:ln w="19050">
            <a:solidFill>
              <a:srgbClr val="302944"/>
            </a:solidFill>
            <a:prstDash val="solid"/>
          </a:ln>
        </p:spPr>
      </p:sp>
      <p:sp>
        <p:nvSpPr>
          <p:cNvPr id="7" name="Text 5"/>
          <p:cNvSpPr/>
          <p:nvPr/>
        </p:nvSpPr>
        <p:spPr>
          <a:xfrm>
            <a:off x="4616335" y="3211612"/>
            <a:ext cx="2959026"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Tablets</a:t>
            </a:r>
            <a:endParaRPr lang="en-US" sz="2000" dirty="0"/>
          </a:p>
        </p:txBody>
      </p:sp>
      <p:sp>
        <p:nvSpPr>
          <p:cNvPr id="8" name="Text 6"/>
          <p:cNvSpPr/>
          <p:nvPr/>
        </p:nvSpPr>
        <p:spPr>
          <a:xfrm>
            <a:off x="4616335" y="3618012"/>
            <a:ext cx="3206670" cy="248841"/>
          </a:xfrm>
          <a:prstGeom prst="rect">
            <a:avLst/>
          </a:prstGeom>
          <a:noFill/>
          <a:ln/>
        </p:spPr>
        <p:txBody>
          <a:bodyPr wrap="none" lIns="0" tIns="0" rIns="0" bIns="0" rtlCol="0" anchor="t"/>
          <a:lstStyle/>
          <a:p>
            <a:pPr algn="l" indent="0" marL="0">
              <a:lnSpc>
                <a:spcPct val="117000"/>
              </a:lnSpc>
              <a:buNone/>
            </a:pPr>
            <a:r>
              <a:rPr lang="en-US" sz="1400" b="1" dirty="0">
                <a:solidFill>
                  <a:srgbClr val="F2EDFB"/>
                </a:solidFill>
                <a:latin typeface="Bitter Bold" pitchFamily="34" charset="0"/>
                <a:ea typeface="Bitter Bold" pitchFamily="34" charset="-122"/>
                <a:cs typeface="Bitter Bold" pitchFamily="34" charset="-120"/>
              </a:rPr>
              <a:t>29.17%</a:t>
            </a:r>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 profit margin</a:t>
            </a:r>
            <a:endParaRPr lang="en-US" sz="1400" dirty="0"/>
          </a:p>
        </p:txBody>
      </p:sp>
      <p:sp>
        <p:nvSpPr>
          <p:cNvPr id="9" name="Shape 7"/>
          <p:cNvSpPr/>
          <p:nvPr/>
        </p:nvSpPr>
        <p:spPr>
          <a:xfrm>
            <a:off x="8127797" y="2963962"/>
            <a:ext cx="3454314" cy="2001837"/>
          </a:xfrm>
          <a:prstGeom prst="roundRect">
            <a:avLst>
              <a:gd name="adj" fmla="val 571"/>
            </a:avLst>
          </a:prstGeom>
          <a:noFill/>
          <a:ln w="19050">
            <a:solidFill>
              <a:srgbClr val="302944"/>
            </a:solidFill>
            <a:prstDash val="solid"/>
          </a:ln>
        </p:spPr>
      </p:sp>
      <p:sp>
        <p:nvSpPr>
          <p:cNvPr id="10" name="Text 8"/>
          <p:cNvSpPr/>
          <p:nvPr/>
        </p:nvSpPr>
        <p:spPr>
          <a:xfrm>
            <a:off x="8375440" y="3211612"/>
            <a:ext cx="2959026"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Smartphones</a:t>
            </a:r>
            <a:endParaRPr lang="en-US" sz="2000" dirty="0"/>
          </a:p>
        </p:txBody>
      </p:sp>
      <p:sp>
        <p:nvSpPr>
          <p:cNvPr id="11" name="Text 9"/>
          <p:cNvSpPr/>
          <p:nvPr/>
        </p:nvSpPr>
        <p:spPr>
          <a:xfrm>
            <a:off x="8375440" y="3618012"/>
            <a:ext cx="2959026"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Use bundles with high-margin Accessories to improve economics.</a:t>
            </a:r>
            <a:endParaRPr lang="en-US" sz="1400" dirty="0"/>
          </a:p>
        </p:txBody>
      </p:sp>
      <p:sp>
        <p:nvSpPr>
          <p:cNvPr id="12" name="Text 10"/>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13" name="Text 11"/>
          <p:cNvSpPr/>
          <p:nvPr/>
        </p:nvSpPr>
        <p:spPr>
          <a:xfrm>
            <a:off x="11509385" y="6466086"/>
            <a:ext cx="68231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834132"/>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04 — GO-TO-MARKET EXECUTION</a:t>
            </a:r>
            <a:endParaRPr lang="en-US" sz="1050" dirty="0"/>
          </a:p>
        </p:txBody>
      </p:sp>
      <p:sp>
        <p:nvSpPr>
          <p:cNvPr id="3" name="Text 1"/>
          <p:cNvSpPr/>
          <p:nvPr/>
        </p:nvSpPr>
        <p:spPr>
          <a:xfrm>
            <a:off x="609585" y="1093788"/>
            <a:ext cx="10972526" cy="446980"/>
          </a:xfrm>
          <a:prstGeom prst="rect">
            <a:avLst/>
          </a:prstGeom>
          <a:noFill/>
          <a:ln/>
        </p:spPr>
        <p:txBody>
          <a:bodyPr wrap="none" lIns="0" tIns="0" rIns="0" bIns="0" rtlCol="0" anchor="t"/>
          <a:lstStyle/>
          <a:p>
            <a:pPr algn="l" indent="0" marL="0">
              <a:lnSpc>
                <a:spcPct val="92000"/>
              </a:lnSpc>
              <a:buNone/>
            </a:pPr>
            <a:r>
              <a:rPr lang="en-US" sz="3200" dirty="0">
                <a:solidFill>
                  <a:srgbClr val="F2EDFB"/>
                </a:solidFill>
                <a:latin typeface="Jost" pitchFamily="34" charset="0"/>
                <a:ea typeface="Jost" pitchFamily="34" charset="-122"/>
                <a:cs typeface="Jost" pitchFamily="34" charset="-120"/>
              </a:rPr>
              <a:t>SALES EXECUTION IS A PEOPLE-AND-CHANNEL GAME</a:t>
            </a:r>
            <a:endParaRPr lang="en-US" sz="3200" dirty="0"/>
          </a:p>
        </p:txBody>
      </p:sp>
      <p:sp>
        <p:nvSpPr>
          <p:cNvPr id="4" name="Text 2"/>
          <p:cNvSpPr/>
          <p:nvPr/>
        </p:nvSpPr>
        <p:spPr>
          <a:xfrm>
            <a:off x="609585" y="1718568"/>
            <a:ext cx="11582110"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Identify which channel and representative combinations create repeatable wins, then replicate the winning playbook.</a:t>
            </a:r>
            <a:endParaRPr lang="en-US" sz="1200" dirty="0"/>
          </a:p>
        </p:txBody>
      </p:sp>
      <p:sp>
        <p:nvSpPr>
          <p:cNvPr id="5" name="Shape 3"/>
          <p:cNvSpPr/>
          <p:nvPr/>
        </p:nvSpPr>
        <p:spPr>
          <a:xfrm>
            <a:off x="609585" y="2109688"/>
            <a:ext cx="3911502" cy="3914180"/>
          </a:xfrm>
          <a:prstGeom prst="rect">
            <a:avLst/>
          </a:prstGeom>
          <a:solidFill>
            <a:srgbClr val="4A3670"/>
          </a:solidFill>
          <a:ln/>
        </p:spPr>
      </p:sp>
      <p:sp>
        <p:nvSpPr>
          <p:cNvPr id="6" name="Text 4"/>
          <p:cNvSpPr/>
          <p:nvPr/>
        </p:nvSpPr>
        <p:spPr>
          <a:xfrm>
            <a:off x="863578" y="3081933"/>
            <a:ext cx="365750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FFFFFF"/>
                </a:solidFill>
                <a:latin typeface="Bitter" pitchFamily="34" charset="0"/>
                <a:ea typeface="Bitter" pitchFamily="34" charset="-122"/>
                <a:cs typeface="Bitter" pitchFamily="34" charset="-120"/>
              </a:rPr>
              <a:t>BENCHMARK PERFORMER</a:t>
            </a:r>
            <a:endParaRPr lang="en-US" sz="1050" dirty="0"/>
          </a:p>
        </p:txBody>
      </p:sp>
      <p:sp>
        <p:nvSpPr>
          <p:cNvPr id="7" name="Text 5"/>
          <p:cNvSpPr/>
          <p:nvPr/>
        </p:nvSpPr>
        <p:spPr>
          <a:xfrm>
            <a:off x="863578" y="3341588"/>
            <a:ext cx="3403515" cy="558800"/>
          </a:xfrm>
          <a:prstGeom prst="rect">
            <a:avLst/>
          </a:prstGeom>
          <a:noFill/>
          <a:ln/>
        </p:spPr>
        <p:txBody>
          <a:bodyPr wrap="none" lIns="0" tIns="0" rIns="0" bIns="0" rtlCol="0" anchor="t"/>
          <a:lstStyle/>
          <a:p>
            <a:pPr algn="l" indent="0" marL="0">
              <a:lnSpc>
                <a:spcPct val="83000"/>
              </a:lnSpc>
              <a:buNone/>
            </a:pPr>
            <a:r>
              <a:rPr lang="en-US" sz="4400" dirty="0">
                <a:solidFill>
                  <a:srgbClr val="FFFFFF"/>
                </a:solidFill>
                <a:latin typeface="Jost" pitchFamily="34" charset="0"/>
                <a:ea typeface="Jost" pitchFamily="34" charset="-122"/>
                <a:cs typeface="Jost" pitchFamily="34" charset="-120"/>
              </a:rPr>
              <a:t>₹29.96M</a:t>
            </a:r>
            <a:endParaRPr lang="en-US" sz="4400" dirty="0"/>
          </a:p>
        </p:txBody>
      </p:sp>
      <p:sp>
        <p:nvSpPr>
          <p:cNvPr id="8" name="Text 6"/>
          <p:cNvSpPr/>
          <p:nvPr/>
        </p:nvSpPr>
        <p:spPr>
          <a:xfrm>
            <a:off x="863578" y="4005163"/>
            <a:ext cx="3403515" cy="279400"/>
          </a:xfrm>
          <a:prstGeom prst="rect">
            <a:avLst/>
          </a:prstGeom>
          <a:noFill/>
          <a:ln/>
        </p:spPr>
        <p:txBody>
          <a:bodyPr wrap="none" lIns="0" tIns="0" rIns="0" bIns="0" rtlCol="0" anchor="t"/>
          <a:lstStyle/>
          <a:p>
            <a:pPr algn="l" indent="0" marL="0">
              <a:lnSpc>
                <a:spcPct val="92000"/>
              </a:lnSpc>
              <a:buNone/>
            </a:pPr>
            <a:r>
              <a:rPr lang="en-US" sz="2000" dirty="0">
                <a:solidFill>
                  <a:srgbClr val="FFFFFF"/>
                </a:solidFill>
                <a:latin typeface="Jost" pitchFamily="34" charset="0"/>
                <a:ea typeface="Jost" pitchFamily="34" charset="-122"/>
                <a:cs typeface="Jost" pitchFamily="34" charset="-120"/>
              </a:rPr>
              <a:t>Rohit: Top Sales Rep</a:t>
            </a:r>
            <a:endParaRPr lang="en-US" sz="2000" dirty="0"/>
          </a:p>
        </p:txBody>
      </p:sp>
      <p:sp>
        <p:nvSpPr>
          <p:cNvPr id="9" name="Text 7"/>
          <p:cNvSpPr/>
          <p:nvPr/>
        </p:nvSpPr>
        <p:spPr>
          <a:xfrm>
            <a:off x="863578" y="4411563"/>
            <a:ext cx="3403515" cy="63996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Leading the sales roster by demonstrating strong deal closing mechanics and disciplined discounting in key accounts.</a:t>
            </a:r>
            <a:endParaRPr lang="en-US" sz="1200" dirty="0"/>
          </a:p>
        </p:txBody>
      </p:sp>
      <p:sp>
        <p:nvSpPr>
          <p:cNvPr id="10" name="Text 8"/>
          <p:cNvSpPr/>
          <p:nvPr/>
        </p:nvSpPr>
        <p:spPr>
          <a:xfrm>
            <a:off x="5003576" y="2236688"/>
            <a:ext cx="657853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ONLINE CHANNEL</a:t>
            </a:r>
            <a:endParaRPr lang="en-US" sz="1050" dirty="0"/>
          </a:p>
        </p:txBody>
      </p:sp>
      <p:sp>
        <p:nvSpPr>
          <p:cNvPr id="11" name="Text 9"/>
          <p:cNvSpPr/>
          <p:nvPr/>
        </p:nvSpPr>
        <p:spPr>
          <a:xfrm>
            <a:off x="5003576" y="2496344"/>
            <a:ext cx="6400739"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Digital Direct Velocity</a:t>
            </a:r>
            <a:endParaRPr lang="en-US" sz="1700" dirty="0"/>
          </a:p>
        </p:txBody>
      </p:sp>
      <p:sp>
        <p:nvSpPr>
          <p:cNvPr id="12" name="Text 10"/>
          <p:cNvSpPr/>
          <p:nvPr/>
        </p:nvSpPr>
        <p:spPr>
          <a:xfrm>
            <a:off x="5003576" y="2860774"/>
            <a:ext cx="6400739"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Captures high-frequency catalog orders; ideal for standardized laptop configs and self-serve accessory purchases.</a:t>
            </a:r>
            <a:endParaRPr lang="en-US" sz="1200" dirty="0"/>
          </a:p>
        </p:txBody>
      </p:sp>
      <p:sp>
        <p:nvSpPr>
          <p:cNvPr id="13" name="Text 11"/>
          <p:cNvSpPr/>
          <p:nvPr/>
        </p:nvSpPr>
        <p:spPr>
          <a:xfrm>
            <a:off x="5003576" y="3541415"/>
            <a:ext cx="657853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DISTRIBUTOR NETWORK</a:t>
            </a:r>
            <a:endParaRPr lang="en-US" sz="1050" dirty="0"/>
          </a:p>
        </p:txBody>
      </p:sp>
      <p:sp>
        <p:nvSpPr>
          <p:cNvPr id="14" name="Text 12"/>
          <p:cNvSpPr/>
          <p:nvPr/>
        </p:nvSpPr>
        <p:spPr>
          <a:xfrm>
            <a:off x="5003576" y="3801070"/>
            <a:ext cx="6400739"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Geographic Reach &amp; Bulk Flow</a:t>
            </a:r>
            <a:endParaRPr lang="en-US" sz="1700" dirty="0"/>
          </a:p>
        </p:txBody>
      </p:sp>
      <p:sp>
        <p:nvSpPr>
          <p:cNvPr id="15" name="Text 13"/>
          <p:cNvSpPr/>
          <p:nvPr/>
        </p:nvSpPr>
        <p:spPr>
          <a:xfrm>
            <a:off x="5003576" y="4165501"/>
            <a:ext cx="6400739"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Powers multi-region coverage across Tier-2 cities; requires strict discount threshold governance.</a:t>
            </a:r>
            <a:endParaRPr lang="en-US" sz="1200" dirty="0"/>
          </a:p>
        </p:txBody>
      </p:sp>
      <p:sp>
        <p:nvSpPr>
          <p:cNvPr id="16" name="Text 14"/>
          <p:cNvSpPr/>
          <p:nvPr/>
        </p:nvSpPr>
        <p:spPr>
          <a:xfrm>
            <a:off x="5003576" y="4846141"/>
            <a:ext cx="657853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DIRECT SALES &amp; RETAIL STORES</a:t>
            </a:r>
            <a:endParaRPr lang="en-US" sz="1050" dirty="0"/>
          </a:p>
        </p:txBody>
      </p:sp>
      <p:sp>
        <p:nvSpPr>
          <p:cNvPr id="17" name="Text 15"/>
          <p:cNvSpPr/>
          <p:nvPr/>
        </p:nvSpPr>
        <p:spPr>
          <a:xfrm>
            <a:off x="5003576" y="5105797"/>
            <a:ext cx="6400739"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Enterprise &amp; Premium Touchpoints</a:t>
            </a:r>
            <a:endParaRPr lang="en-US" sz="1700" dirty="0"/>
          </a:p>
        </p:txBody>
      </p:sp>
      <p:sp>
        <p:nvSpPr>
          <p:cNvPr id="18" name="Text 16"/>
          <p:cNvSpPr/>
          <p:nvPr/>
        </p:nvSpPr>
        <p:spPr>
          <a:xfrm>
            <a:off x="5003576" y="5470227"/>
            <a:ext cx="6400739"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Direct Reps and Retail Stores drive high-touch adoption of NovaBook Pro and high-margin Tablet bundles.</a:t>
            </a:r>
            <a:endParaRPr lang="en-US" sz="1200" dirty="0"/>
          </a:p>
        </p:txBody>
      </p:sp>
      <p:sp>
        <p:nvSpPr>
          <p:cNvPr id="19" name="Shape 17"/>
          <p:cNvSpPr/>
          <p:nvPr/>
        </p:nvSpPr>
        <p:spPr>
          <a:xfrm>
            <a:off x="4825780" y="3408065"/>
            <a:ext cx="6756330" cy="12700"/>
          </a:xfrm>
          <a:prstGeom prst="rect">
            <a:avLst/>
          </a:prstGeom>
          <a:solidFill>
            <a:srgbClr val="4A3670"/>
          </a:solidFill>
          <a:ln/>
        </p:spPr>
      </p:sp>
      <p:sp>
        <p:nvSpPr>
          <p:cNvPr id="20" name="Shape 18"/>
          <p:cNvSpPr/>
          <p:nvPr/>
        </p:nvSpPr>
        <p:spPr>
          <a:xfrm>
            <a:off x="4825780" y="4712791"/>
            <a:ext cx="6756330" cy="12700"/>
          </a:xfrm>
          <a:prstGeom prst="rect">
            <a:avLst/>
          </a:prstGeom>
          <a:solidFill>
            <a:srgbClr val="4A3670"/>
          </a:solidFill>
          <a:ln/>
        </p:spPr>
      </p:sp>
      <p:sp>
        <p:nvSpPr>
          <p:cNvPr id="21" name="Text 19"/>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22" name="Text 20"/>
          <p:cNvSpPr/>
          <p:nvPr/>
        </p:nvSpPr>
        <p:spPr>
          <a:xfrm>
            <a:off x="11515635" y="6466086"/>
            <a:ext cx="67606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1186061"/>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05 — DEMAND CALENDAR</a:t>
            </a:r>
            <a:endParaRPr lang="en-US" sz="1050" dirty="0"/>
          </a:p>
        </p:txBody>
      </p:sp>
      <p:sp>
        <p:nvSpPr>
          <p:cNvPr id="3" name="Text 1"/>
          <p:cNvSpPr/>
          <p:nvPr/>
        </p:nvSpPr>
        <p:spPr>
          <a:xfrm>
            <a:off x="609585" y="1445716"/>
            <a:ext cx="10972526" cy="893961"/>
          </a:xfrm>
          <a:prstGeom prst="rect">
            <a:avLst/>
          </a:prstGeom>
          <a:noFill/>
          <a:ln/>
        </p:spPr>
        <p:txBody>
          <a:bodyPr wrap="square" lIns="0" tIns="0" rIns="0" bIns="0" rtlCol="0" anchor="t">
            <a:normAutofit/>
          </a:bodyPr>
          <a:lstStyle/>
          <a:p>
            <a:pPr algn="l" indent="0" marL="0">
              <a:lnSpc>
                <a:spcPct val="92000"/>
              </a:lnSpc>
              <a:buNone/>
            </a:pPr>
            <a:r>
              <a:rPr lang="en-US" sz="3200" dirty="0">
                <a:solidFill>
                  <a:srgbClr val="F2EDFB"/>
                </a:solidFill>
                <a:latin typeface="Jost" pitchFamily="34" charset="0"/>
                <a:ea typeface="Jost" pitchFamily="34" charset="-122"/>
                <a:cs typeface="Jost" pitchFamily="34" charset="-120"/>
              </a:rPr>
              <a:t>Seasonality gives NovaTech a practical inventory and promotion calendar</a:t>
            </a:r>
            <a:endParaRPr lang="en-US" sz="3200" dirty="0"/>
          </a:p>
        </p:txBody>
      </p:sp>
      <p:sp>
        <p:nvSpPr>
          <p:cNvPr id="4" name="Text 2"/>
          <p:cNvSpPr/>
          <p:nvPr/>
        </p:nvSpPr>
        <p:spPr>
          <a:xfrm>
            <a:off x="609585" y="2517477"/>
            <a:ext cx="11582110"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Turn the monthly trend into a simple operating rhythm for inventory, campaigns, and rep focus.</a:t>
            </a:r>
            <a:endParaRPr lang="en-US" sz="1200" dirty="0"/>
          </a:p>
        </p:txBody>
      </p:sp>
      <p:pic>
        <p:nvPicPr>
          <p:cNvPr id="5" name="Image 0" descr="preencoded.png">    </p:cNvPr>
          <p:cNvPicPr>
            <a:picLocks noChangeAspect="1"/>
          </p:cNvPicPr>
          <p:nvPr/>
        </p:nvPicPr>
        <p:blipFill>
          <a:blip r:embed="rId1"/>
          <a:stretch>
            <a:fillRect/>
          </a:stretch>
        </p:blipFill>
        <p:spPr>
          <a:xfrm>
            <a:off x="609585" y="2933998"/>
            <a:ext cx="444489" cy="444500"/>
          </a:xfrm>
          <a:prstGeom prst="rect">
            <a:avLst/>
          </a:prstGeom>
        </p:spPr>
      </p:pic>
      <p:sp>
        <p:nvSpPr>
          <p:cNvPr id="6" name="Text 3"/>
          <p:cNvSpPr/>
          <p:nvPr/>
        </p:nvSpPr>
        <p:spPr>
          <a:xfrm>
            <a:off x="609585" y="3537248"/>
            <a:ext cx="5333867"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April Peak</a:t>
            </a:r>
            <a:endParaRPr lang="en-US" sz="1700" dirty="0"/>
          </a:p>
        </p:txBody>
      </p:sp>
      <p:sp>
        <p:nvSpPr>
          <p:cNvPr id="7" name="Text 4"/>
          <p:cNvSpPr/>
          <p:nvPr/>
        </p:nvSpPr>
        <p:spPr>
          <a:xfrm>
            <a:off x="609585" y="3901678"/>
            <a:ext cx="5333867"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Prepare stock ahead of April peak sales months.</a:t>
            </a:r>
            <a:endParaRPr lang="en-US" sz="1400" dirty="0"/>
          </a:p>
        </p:txBody>
      </p:sp>
      <p:pic>
        <p:nvPicPr>
          <p:cNvPr id="8" name="Image 1" descr="preencoded.png">    </p:cNvPr>
          <p:cNvPicPr>
            <a:picLocks noChangeAspect="1"/>
          </p:cNvPicPr>
          <p:nvPr/>
        </p:nvPicPr>
        <p:blipFill>
          <a:blip r:embed="rId2"/>
          <a:stretch>
            <a:fillRect/>
          </a:stretch>
        </p:blipFill>
        <p:spPr>
          <a:xfrm>
            <a:off x="6248244" y="2933998"/>
            <a:ext cx="444489" cy="444500"/>
          </a:xfrm>
          <a:prstGeom prst="rect">
            <a:avLst/>
          </a:prstGeom>
        </p:spPr>
      </p:pic>
      <p:sp>
        <p:nvSpPr>
          <p:cNvPr id="9" name="Text 5"/>
          <p:cNvSpPr/>
          <p:nvPr/>
        </p:nvSpPr>
        <p:spPr>
          <a:xfrm>
            <a:off x="6248244" y="3537248"/>
            <a:ext cx="5333867"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June Slow Month</a:t>
            </a:r>
            <a:endParaRPr lang="en-US" sz="1700" dirty="0"/>
          </a:p>
        </p:txBody>
      </p:sp>
      <p:sp>
        <p:nvSpPr>
          <p:cNvPr id="10" name="Text 6"/>
          <p:cNvSpPr/>
          <p:nvPr/>
        </p:nvSpPr>
        <p:spPr>
          <a:xfrm>
            <a:off x="6248244" y="3901678"/>
            <a:ext cx="5333867"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Use targeted promotions in June slow months.</a:t>
            </a:r>
            <a:endParaRPr lang="en-US" sz="1400" dirty="0"/>
          </a:p>
        </p:txBody>
      </p:sp>
      <p:pic>
        <p:nvPicPr>
          <p:cNvPr id="11" name="Image 2" descr="preencoded.png">    </p:cNvPr>
          <p:cNvPicPr>
            <a:picLocks noChangeAspect="1"/>
          </p:cNvPicPr>
          <p:nvPr/>
        </p:nvPicPr>
        <p:blipFill>
          <a:blip r:embed="rId3"/>
          <a:stretch>
            <a:fillRect/>
          </a:stretch>
        </p:blipFill>
        <p:spPr>
          <a:xfrm>
            <a:off x="609585" y="4455319"/>
            <a:ext cx="444489" cy="444500"/>
          </a:xfrm>
          <a:prstGeom prst="rect">
            <a:avLst/>
          </a:prstGeom>
        </p:spPr>
      </p:pic>
      <p:sp>
        <p:nvSpPr>
          <p:cNvPr id="12" name="Text 7"/>
          <p:cNvSpPr/>
          <p:nvPr/>
        </p:nvSpPr>
        <p:spPr>
          <a:xfrm>
            <a:off x="609585" y="5058569"/>
            <a:ext cx="5333867"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July Peak</a:t>
            </a:r>
            <a:endParaRPr lang="en-US" sz="1700" dirty="0"/>
          </a:p>
        </p:txBody>
      </p:sp>
      <p:sp>
        <p:nvSpPr>
          <p:cNvPr id="13" name="Text 8"/>
          <p:cNvSpPr/>
          <p:nvPr/>
        </p:nvSpPr>
        <p:spPr>
          <a:xfrm>
            <a:off x="609585" y="5422999"/>
            <a:ext cx="5333867"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Prepare stock ahead of July peak sales months.</a:t>
            </a:r>
            <a:endParaRPr lang="en-US" sz="1400" dirty="0"/>
          </a:p>
        </p:txBody>
      </p:sp>
      <p:pic>
        <p:nvPicPr>
          <p:cNvPr id="14" name="Image 3" descr="preencoded.png">    </p:cNvPr>
          <p:cNvPicPr>
            <a:picLocks noChangeAspect="1"/>
          </p:cNvPicPr>
          <p:nvPr/>
        </p:nvPicPr>
        <p:blipFill>
          <a:blip r:embed="rId4"/>
          <a:stretch>
            <a:fillRect/>
          </a:stretch>
        </p:blipFill>
        <p:spPr>
          <a:xfrm>
            <a:off x="6248244" y="4455319"/>
            <a:ext cx="444489" cy="444500"/>
          </a:xfrm>
          <a:prstGeom prst="rect">
            <a:avLst/>
          </a:prstGeom>
        </p:spPr>
      </p:pic>
      <p:sp>
        <p:nvSpPr>
          <p:cNvPr id="15" name="Text 9"/>
          <p:cNvSpPr/>
          <p:nvPr/>
        </p:nvSpPr>
        <p:spPr>
          <a:xfrm>
            <a:off x="6248244" y="5058569"/>
            <a:ext cx="5333867"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November Slow Month</a:t>
            </a:r>
            <a:endParaRPr lang="en-US" sz="1700" dirty="0"/>
          </a:p>
        </p:txBody>
      </p:sp>
      <p:sp>
        <p:nvSpPr>
          <p:cNvPr id="16" name="Text 10"/>
          <p:cNvSpPr/>
          <p:nvPr/>
        </p:nvSpPr>
        <p:spPr>
          <a:xfrm>
            <a:off x="6248244" y="5422999"/>
            <a:ext cx="5333867"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Use targeted promotions in November slow months.</a:t>
            </a:r>
            <a:endParaRPr lang="en-US" sz="1400" dirty="0"/>
          </a:p>
        </p:txBody>
      </p:sp>
      <p:sp>
        <p:nvSpPr>
          <p:cNvPr id="17" name="Text 11"/>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18" name="Text 12"/>
          <p:cNvSpPr/>
          <p:nvPr/>
        </p:nvSpPr>
        <p:spPr>
          <a:xfrm>
            <a:off x="11508988" y="6466086"/>
            <a:ext cx="682707"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573709"/>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06 — PROFIT PROTECTION</a:t>
            </a:r>
            <a:endParaRPr lang="en-US" sz="1050" dirty="0"/>
          </a:p>
        </p:txBody>
      </p:sp>
      <p:sp>
        <p:nvSpPr>
          <p:cNvPr id="3" name="Text 1"/>
          <p:cNvSpPr/>
          <p:nvPr/>
        </p:nvSpPr>
        <p:spPr>
          <a:xfrm>
            <a:off x="609585" y="1833364"/>
            <a:ext cx="10972526" cy="446980"/>
          </a:xfrm>
          <a:prstGeom prst="rect">
            <a:avLst/>
          </a:prstGeom>
          <a:noFill/>
          <a:ln/>
        </p:spPr>
        <p:txBody>
          <a:bodyPr wrap="none" lIns="0" tIns="0" rIns="0" bIns="0" rtlCol="0" anchor="t"/>
          <a:lstStyle/>
          <a:p>
            <a:pPr algn="l" indent="0" marL="0">
              <a:lnSpc>
                <a:spcPct val="92000"/>
              </a:lnSpc>
              <a:buNone/>
            </a:pPr>
            <a:r>
              <a:rPr lang="en-US" sz="3200" dirty="0">
                <a:solidFill>
                  <a:srgbClr val="F2EDFB"/>
                </a:solidFill>
                <a:latin typeface="Jost" pitchFamily="34" charset="0"/>
                <a:ea typeface="Jost" pitchFamily="34" charset="-122"/>
                <a:cs typeface="Jost" pitchFamily="34" charset="-120"/>
              </a:rPr>
              <a:t>Discount discipline is the fastest lever to protect profit</a:t>
            </a:r>
            <a:endParaRPr lang="en-US" sz="3200" dirty="0"/>
          </a:p>
        </p:txBody>
      </p:sp>
      <p:sp>
        <p:nvSpPr>
          <p:cNvPr id="4" name="Shape 2"/>
          <p:cNvSpPr/>
          <p:nvPr/>
        </p:nvSpPr>
        <p:spPr>
          <a:xfrm>
            <a:off x="609585" y="2458145"/>
            <a:ext cx="5333867" cy="2151856"/>
          </a:xfrm>
          <a:prstGeom prst="roundRect">
            <a:avLst>
              <a:gd name="adj" fmla="val 531"/>
            </a:avLst>
          </a:prstGeom>
          <a:solidFill>
            <a:srgbClr val="17102B"/>
          </a:solidFill>
          <a:ln/>
        </p:spPr>
      </p:sp>
      <p:sp>
        <p:nvSpPr>
          <p:cNvPr id="5" name="Text 3"/>
          <p:cNvSpPr/>
          <p:nvPr/>
        </p:nvSpPr>
        <p:spPr>
          <a:xfrm>
            <a:off x="838179" y="2686745"/>
            <a:ext cx="4876678"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Standard discounts</a:t>
            </a:r>
            <a:endParaRPr lang="en-US" sz="2000" dirty="0"/>
          </a:p>
        </p:txBody>
      </p:sp>
      <p:sp>
        <p:nvSpPr>
          <p:cNvPr id="6" name="Text 4"/>
          <p:cNvSpPr/>
          <p:nvPr/>
        </p:nvSpPr>
        <p:spPr>
          <a:xfrm>
            <a:off x="838179" y="3070920"/>
            <a:ext cx="4876678" cy="635000"/>
          </a:xfrm>
          <a:prstGeom prst="rect">
            <a:avLst/>
          </a:prstGeom>
          <a:noFill/>
          <a:ln/>
        </p:spPr>
        <p:txBody>
          <a:bodyPr wrap="none" lIns="0" tIns="0" rIns="0" bIns="0" rtlCol="0" anchor="t"/>
          <a:lstStyle/>
          <a:p>
            <a:pPr algn="l" indent="0" marL="0">
              <a:lnSpc>
                <a:spcPct val="83000"/>
              </a:lnSpc>
              <a:buNone/>
            </a:pPr>
            <a:r>
              <a:rPr lang="en-US" sz="5000" dirty="0">
                <a:solidFill>
                  <a:srgbClr val="F2EDFB"/>
                </a:solidFill>
                <a:latin typeface="Jost" pitchFamily="34" charset="0"/>
                <a:ea typeface="Jost" pitchFamily="34" charset="-122"/>
                <a:cs typeface="Jost" pitchFamily="34" charset="-120"/>
              </a:rPr>
              <a:t>Under 10%</a:t>
            </a:r>
            <a:endParaRPr lang="en-US" sz="5000" dirty="0"/>
          </a:p>
        </p:txBody>
      </p:sp>
      <p:sp>
        <p:nvSpPr>
          <p:cNvPr id="7" name="Text 5"/>
          <p:cNvSpPr/>
          <p:nvPr/>
        </p:nvSpPr>
        <p:spPr>
          <a:xfrm>
            <a:off x="838179" y="3883720"/>
            <a:ext cx="4876678"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Keep standard discounts under 10% to protect profit margins</a:t>
            </a:r>
            <a:endParaRPr lang="en-US" sz="1400" dirty="0"/>
          </a:p>
        </p:txBody>
      </p:sp>
      <p:sp>
        <p:nvSpPr>
          <p:cNvPr id="8" name="Shape 6"/>
          <p:cNvSpPr/>
          <p:nvPr/>
        </p:nvSpPr>
        <p:spPr>
          <a:xfrm>
            <a:off x="6248244" y="2458145"/>
            <a:ext cx="5333867" cy="2151856"/>
          </a:xfrm>
          <a:prstGeom prst="roundRect">
            <a:avLst>
              <a:gd name="adj" fmla="val 531"/>
            </a:avLst>
          </a:prstGeom>
          <a:solidFill>
            <a:srgbClr val="17102B"/>
          </a:solidFill>
          <a:ln/>
        </p:spPr>
      </p:sp>
      <p:sp>
        <p:nvSpPr>
          <p:cNvPr id="9" name="Text 7"/>
          <p:cNvSpPr/>
          <p:nvPr/>
        </p:nvSpPr>
        <p:spPr>
          <a:xfrm>
            <a:off x="6476838" y="2686745"/>
            <a:ext cx="4876678"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Bulk or clearance</a:t>
            </a:r>
            <a:endParaRPr lang="en-US" sz="2000" dirty="0"/>
          </a:p>
        </p:txBody>
      </p:sp>
      <p:sp>
        <p:nvSpPr>
          <p:cNvPr id="10" name="Text 8"/>
          <p:cNvSpPr/>
          <p:nvPr/>
        </p:nvSpPr>
        <p:spPr>
          <a:xfrm>
            <a:off x="6476838" y="3070920"/>
            <a:ext cx="4876678" cy="635000"/>
          </a:xfrm>
          <a:prstGeom prst="rect">
            <a:avLst/>
          </a:prstGeom>
          <a:noFill/>
          <a:ln/>
        </p:spPr>
        <p:txBody>
          <a:bodyPr wrap="none" lIns="0" tIns="0" rIns="0" bIns="0" rtlCol="0" anchor="t"/>
          <a:lstStyle/>
          <a:p>
            <a:pPr algn="l" indent="0" marL="0">
              <a:lnSpc>
                <a:spcPct val="83000"/>
              </a:lnSpc>
              <a:buNone/>
            </a:pPr>
            <a:r>
              <a:rPr lang="en-US" sz="5000" dirty="0">
                <a:solidFill>
                  <a:srgbClr val="F2EDFB"/>
                </a:solidFill>
                <a:latin typeface="Jost" pitchFamily="34" charset="0"/>
                <a:ea typeface="Jost" pitchFamily="34" charset="-122"/>
                <a:cs typeface="Jost" pitchFamily="34" charset="-120"/>
              </a:rPr>
              <a:t>Above 10%</a:t>
            </a:r>
            <a:endParaRPr lang="en-US" sz="5000" dirty="0"/>
          </a:p>
        </p:txBody>
      </p:sp>
      <p:sp>
        <p:nvSpPr>
          <p:cNvPr id="11" name="Text 9"/>
          <p:cNvSpPr/>
          <p:nvPr/>
        </p:nvSpPr>
        <p:spPr>
          <a:xfrm>
            <a:off x="6476838" y="3883720"/>
            <a:ext cx="5105272" cy="248841"/>
          </a:xfrm>
          <a:prstGeom prst="rect">
            <a:avLst/>
          </a:prstGeom>
          <a:noFill/>
          <a:ln/>
        </p:spPr>
        <p:txBody>
          <a:bodyPr wrap="none" lIns="0" tIns="0" rIns="0" bIns="0" rtlCol="0" anchor="t"/>
          <a:lstStyle/>
          <a:p>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Reserve discounts above 10% for bulk or clearance sales</a:t>
            </a:r>
            <a:endParaRPr lang="en-US" sz="1400" dirty="0"/>
          </a:p>
        </p:txBody>
      </p:sp>
      <p:sp>
        <p:nvSpPr>
          <p:cNvPr id="12" name="Shape 10"/>
          <p:cNvSpPr/>
          <p:nvPr/>
        </p:nvSpPr>
        <p:spPr>
          <a:xfrm>
            <a:off x="609585" y="4813201"/>
            <a:ext cx="10972526" cy="19050"/>
          </a:xfrm>
          <a:prstGeom prst="roundRect">
            <a:avLst>
              <a:gd name="adj" fmla="val 49999"/>
            </a:avLst>
          </a:prstGeom>
          <a:solidFill>
            <a:srgbClr val="17102B"/>
          </a:solidFill>
          <a:ln/>
        </p:spPr>
      </p:sp>
      <p:sp>
        <p:nvSpPr>
          <p:cNvPr id="13" name="Text 11"/>
          <p:cNvSpPr/>
          <p:nvPr/>
        </p:nvSpPr>
        <p:spPr>
          <a:xfrm>
            <a:off x="609585" y="5035451"/>
            <a:ext cx="11582110" cy="248841"/>
          </a:xfrm>
          <a:prstGeom prst="rect">
            <a:avLst/>
          </a:prstGeom>
          <a:noFill/>
          <a:ln/>
        </p:spPr>
        <p:txBody>
          <a:bodyPr wrap="none" lIns="0" tIns="0" rIns="0" bIns="0" rtlCol="0" anchor="t"/>
          <a:lstStyle/>
          <a:p>
            <a:pPr algn="l" indent="0" marL="0">
              <a:lnSpc>
                <a:spcPct val="117000"/>
              </a:lnSpc>
              <a:buNone/>
            </a:pPr>
            <a:r>
              <a:rPr lang="en-US" sz="1400" b="1" dirty="0">
                <a:solidFill>
                  <a:srgbClr val="F2EDFB"/>
                </a:solidFill>
                <a:latin typeface="Bitter Bold" pitchFamily="34" charset="0"/>
                <a:ea typeface="Bitter Bold" pitchFamily="34" charset="-122"/>
                <a:cs typeface="Bitter Bold" pitchFamily="34" charset="-120"/>
              </a:rPr>
              <a:t>Track discount category against profit</a:t>
            </a:r>
            <a:pPr algn="l" indent="0" marL="0">
              <a:lnSpc>
                <a:spcPct val="117000"/>
              </a:lnSpc>
              <a:buNone/>
            </a:pPr>
            <a:r>
              <a:rPr lang="en-US" sz="1400" dirty="0">
                <a:solidFill>
                  <a:srgbClr val="F2EDFB"/>
                </a:solidFill>
                <a:latin typeface="Bitter" pitchFamily="34" charset="0"/>
                <a:ea typeface="Bitter" pitchFamily="34" charset="-122"/>
                <a:cs typeface="Bitter" pitchFamily="34" charset="-120"/>
              </a:rPr>
              <a:t> so the team can see where volume is being bought at too high a cost.</a:t>
            </a:r>
            <a:endParaRPr lang="en-US" sz="1400" dirty="0"/>
          </a:p>
        </p:txBody>
      </p:sp>
      <p:sp>
        <p:nvSpPr>
          <p:cNvPr id="14" name="Text 12"/>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15" name="Text 13"/>
          <p:cNvSpPr/>
          <p:nvPr/>
        </p:nvSpPr>
        <p:spPr>
          <a:xfrm>
            <a:off x="11519604" y="6466086"/>
            <a:ext cx="67209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1566069"/>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07 — OPERATING ROADMAP</a:t>
            </a:r>
            <a:endParaRPr lang="en-US" sz="1050" dirty="0"/>
          </a:p>
        </p:txBody>
      </p:sp>
      <p:sp>
        <p:nvSpPr>
          <p:cNvPr id="3" name="Text 1"/>
          <p:cNvSpPr/>
          <p:nvPr/>
        </p:nvSpPr>
        <p:spPr>
          <a:xfrm>
            <a:off x="609585" y="1825724"/>
            <a:ext cx="10972526" cy="446980"/>
          </a:xfrm>
          <a:prstGeom prst="rect">
            <a:avLst/>
          </a:prstGeom>
          <a:noFill/>
          <a:ln/>
        </p:spPr>
        <p:txBody>
          <a:bodyPr wrap="none" lIns="0" tIns="0" rIns="0" bIns="0" rtlCol="0" anchor="t"/>
          <a:lstStyle/>
          <a:p>
            <a:pPr algn="l" indent="0" marL="0">
              <a:lnSpc>
                <a:spcPct val="92000"/>
              </a:lnSpc>
              <a:buNone/>
            </a:pPr>
            <a:r>
              <a:rPr lang="en-US" sz="3200" dirty="0">
                <a:solidFill>
                  <a:srgbClr val="F2EDFB"/>
                </a:solidFill>
                <a:latin typeface="Jost" pitchFamily="34" charset="0"/>
                <a:ea typeface="Jost" pitchFamily="34" charset="-122"/>
                <a:cs typeface="Jost" pitchFamily="34" charset="-120"/>
              </a:rPr>
              <a:t>FROM DASHBOARD INSIGHT TO NEXT-QUARTER ACTION</a:t>
            </a:r>
            <a:endParaRPr lang="en-US" sz="3200" dirty="0"/>
          </a:p>
        </p:txBody>
      </p:sp>
      <p:sp>
        <p:nvSpPr>
          <p:cNvPr id="4" name="Text 2"/>
          <p:cNvSpPr/>
          <p:nvPr/>
        </p:nvSpPr>
        <p:spPr>
          <a:xfrm>
            <a:off x="609585" y="2450505"/>
            <a:ext cx="11582110"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Five targeted initiatives to operationalize sales performance insights and safeguard profitability.</a:t>
            </a:r>
            <a:endParaRPr lang="en-US" sz="1200" dirty="0"/>
          </a:p>
        </p:txBody>
      </p:sp>
      <p:sp>
        <p:nvSpPr>
          <p:cNvPr id="5" name="Shape 3"/>
          <p:cNvSpPr/>
          <p:nvPr/>
        </p:nvSpPr>
        <p:spPr>
          <a:xfrm>
            <a:off x="609585" y="2841625"/>
            <a:ext cx="2072628" cy="2450207"/>
          </a:xfrm>
          <a:prstGeom prst="rect">
            <a:avLst/>
          </a:prstGeom>
          <a:solidFill>
            <a:srgbClr val="17102B"/>
          </a:solidFill>
          <a:ln w="12700">
            <a:solidFill>
              <a:srgbClr val="4A3670"/>
            </a:solidFill>
            <a:prstDash val="solid"/>
          </a:ln>
        </p:spPr>
      </p:sp>
      <p:sp>
        <p:nvSpPr>
          <p:cNvPr id="6" name="Text 4"/>
          <p:cNvSpPr/>
          <p:nvPr/>
        </p:nvSpPr>
        <p:spPr>
          <a:xfrm>
            <a:off x="774681" y="3057525"/>
            <a:ext cx="797004"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01</a:t>
            </a:r>
            <a:endParaRPr lang="en-US" sz="1400" dirty="0"/>
          </a:p>
        </p:txBody>
      </p:sp>
      <p:sp>
        <p:nvSpPr>
          <p:cNvPr id="7" name="Shape 5"/>
          <p:cNvSpPr/>
          <p:nvPr/>
        </p:nvSpPr>
        <p:spPr>
          <a:xfrm>
            <a:off x="774681" y="3306465"/>
            <a:ext cx="1742436" cy="19050"/>
          </a:xfrm>
          <a:prstGeom prst="rect">
            <a:avLst/>
          </a:prstGeom>
          <a:solidFill>
            <a:srgbClr val="17102B"/>
          </a:solidFill>
          <a:ln/>
        </p:spPr>
      </p:sp>
      <p:sp>
        <p:nvSpPr>
          <p:cNvPr id="8" name="Text 6"/>
          <p:cNvSpPr/>
          <p:nvPr/>
        </p:nvSpPr>
        <p:spPr>
          <a:xfrm>
            <a:off x="774681" y="3432175"/>
            <a:ext cx="1907532"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DEFEND CORE</a:t>
            </a:r>
            <a:endParaRPr lang="en-US" sz="1050" dirty="0"/>
          </a:p>
        </p:txBody>
      </p:sp>
      <p:sp>
        <p:nvSpPr>
          <p:cNvPr id="9" name="Text 7"/>
          <p:cNvSpPr/>
          <p:nvPr/>
        </p:nvSpPr>
        <p:spPr>
          <a:xfrm>
            <a:off x="774681" y="3691830"/>
            <a:ext cx="1742436" cy="474861"/>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Protect South &amp; West</a:t>
            </a:r>
            <a:endParaRPr lang="en-US" sz="1700" dirty="0"/>
          </a:p>
        </p:txBody>
      </p:sp>
      <p:sp>
        <p:nvSpPr>
          <p:cNvPr id="10" name="Text 8"/>
          <p:cNvSpPr/>
          <p:nvPr/>
        </p:nvSpPr>
        <p:spPr>
          <a:xfrm>
            <a:off x="774681" y="4293691"/>
            <a:ext cx="1742436" cy="782241"/>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Double down on winning reps and flagship product lines in our two lead markets.</a:t>
            </a:r>
            <a:endParaRPr lang="en-US" sz="1100" dirty="0"/>
          </a:p>
        </p:txBody>
      </p:sp>
      <p:sp>
        <p:nvSpPr>
          <p:cNvPr id="11" name="Shape 9"/>
          <p:cNvSpPr/>
          <p:nvPr/>
        </p:nvSpPr>
        <p:spPr>
          <a:xfrm>
            <a:off x="2834510" y="2841625"/>
            <a:ext cx="2072628" cy="2450207"/>
          </a:xfrm>
          <a:prstGeom prst="rect">
            <a:avLst/>
          </a:prstGeom>
          <a:solidFill>
            <a:srgbClr val="17102B"/>
          </a:solidFill>
          <a:ln w="12700">
            <a:solidFill>
              <a:srgbClr val="4A3670"/>
            </a:solidFill>
            <a:prstDash val="solid"/>
          </a:ln>
        </p:spPr>
      </p:sp>
      <p:sp>
        <p:nvSpPr>
          <p:cNvPr id="12" name="Text 10"/>
          <p:cNvSpPr/>
          <p:nvPr/>
        </p:nvSpPr>
        <p:spPr>
          <a:xfrm>
            <a:off x="2999605" y="3057525"/>
            <a:ext cx="821908"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02</a:t>
            </a:r>
            <a:endParaRPr lang="en-US" sz="1400" dirty="0"/>
          </a:p>
        </p:txBody>
      </p:sp>
      <p:sp>
        <p:nvSpPr>
          <p:cNvPr id="13" name="Shape 11"/>
          <p:cNvSpPr/>
          <p:nvPr/>
        </p:nvSpPr>
        <p:spPr>
          <a:xfrm>
            <a:off x="2999605" y="3306465"/>
            <a:ext cx="1742436" cy="19050"/>
          </a:xfrm>
          <a:prstGeom prst="rect">
            <a:avLst/>
          </a:prstGeom>
          <a:solidFill>
            <a:srgbClr val="17102B"/>
          </a:solidFill>
          <a:ln/>
        </p:spPr>
      </p:sp>
      <p:sp>
        <p:nvSpPr>
          <p:cNvPr id="14" name="Text 12"/>
          <p:cNvSpPr/>
          <p:nvPr/>
        </p:nvSpPr>
        <p:spPr>
          <a:xfrm>
            <a:off x="2999605" y="3432175"/>
            <a:ext cx="1907532"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EXPAND</a:t>
            </a:r>
            <a:endParaRPr lang="en-US" sz="1050" dirty="0"/>
          </a:p>
        </p:txBody>
      </p:sp>
      <p:sp>
        <p:nvSpPr>
          <p:cNvPr id="15" name="Text 13"/>
          <p:cNvSpPr/>
          <p:nvPr/>
        </p:nvSpPr>
        <p:spPr>
          <a:xfrm>
            <a:off x="2999605" y="3691830"/>
            <a:ext cx="1742436" cy="474861"/>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Test North &amp; Central</a:t>
            </a:r>
            <a:endParaRPr lang="en-US" sz="1700" dirty="0"/>
          </a:p>
        </p:txBody>
      </p:sp>
      <p:sp>
        <p:nvSpPr>
          <p:cNvPr id="16" name="Text 14"/>
          <p:cNvSpPr/>
          <p:nvPr/>
        </p:nvSpPr>
        <p:spPr>
          <a:xfrm>
            <a:off x="2999605" y="4293691"/>
            <a:ext cx="1742436" cy="782241"/>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Deploy localized marketing sprints to accelerate traction in lagging territories.</a:t>
            </a:r>
            <a:endParaRPr lang="en-US" sz="1100" dirty="0"/>
          </a:p>
        </p:txBody>
      </p:sp>
      <p:sp>
        <p:nvSpPr>
          <p:cNvPr id="17" name="Shape 15"/>
          <p:cNvSpPr/>
          <p:nvPr/>
        </p:nvSpPr>
        <p:spPr>
          <a:xfrm>
            <a:off x="5059434" y="2841625"/>
            <a:ext cx="2072727" cy="2450207"/>
          </a:xfrm>
          <a:prstGeom prst="rect">
            <a:avLst/>
          </a:prstGeom>
          <a:solidFill>
            <a:srgbClr val="4A3670"/>
          </a:solidFill>
          <a:ln w="12700">
            <a:solidFill>
              <a:srgbClr val="7C3AED"/>
            </a:solidFill>
            <a:prstDash val="solid"/>
          </a:ln>
        </p:spPr>
      </p:sp>
      <p:sp>
        <p:nvSpPr>
          <p:cNvPr id="18" name="Text 16"/>
          <p:cNvSpPr/>
          <p:nvPr/>
        </p:nvSpPr>
        <p:spPr>
          <a:xfrm>
            <a:off x="5224530" y="3057525"/>
            <a:ext cx="824983"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03</a:t>
            </a:r>
            <a:endParaRPr lang="en-US" sz="1400" dirty="0"/>
          </a:p>
        </p:txBody>
      </p:sp>
      <p:sp>
        <p:nvSpPr>
          <p:cNvPr id="19" name="Shape 17"/>
          <p:cNvSpPr/>
          <p:nvPr/>
        </p:nvSpPr>
        <p:spPr>
          <a:xfrm>
            <a:off x="5224530" y="3306465"/>
            <a:ext cx="1742535" cy="19050"/>
          </a:xfrm>
          <a:prstGeom prst="rect">
            <a:avLst/>
          </a:prstGeom>
          <a:solidFill>
            <a:srgbClr val="17102B"/>
          </a:solidFill>
          <a:ln/>
        </p:spPr>
      </p:sp>
      <p:sp>
        <p:nvSpPr>
          <p:cNvPr id="20" name="Text 18"/>
          <p:cNvSpPr/>
          <p:nvPr/>
        </p:nvSpPr>
        <p:spPr>
          <a:xfrm>
            <a:off x="5224530" y="3432175"/>
            <a:ext cx="1907631"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FFFFFF"/>
                </a:solidFill>
                <a:latin typeface="Bitter" pitchFamily="34" charset="0"/>
                <a:ea typeface="Bitter" pitchFamily="34" charset="-122"/>
                <a:cs typeface="Bitter" pitchFamily="34" charset="-120"/>
              </a:rPr>
              <a:t>BUNDLE</a:t>
            </a:r>
            <a:endParaRPr lang="en-US" sz="1050" dirty="0"/>
          </a:p>
        </p:txBody>
      </p:sp>
      <p:sp>
        <p:nvSpPr>
          <p:cNvPr id="21" name="Text 19"/>
          <p:cNvSpPr/>
          <p:nvPr/>
        </p:nvSpPr>
        <p:spPr>
          <a:xfrm>
            <a:off x="5224530" y="3691830"/>
            <a:ext cx="1742535" cy="474861"/>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Smartphones + Add-ons</a:t>
            </a:r>
            <a:endParaRPr lang="en-US" sz="1700" dirty="0"/>
          </a:p>
        </p:txBody>
      </p:sp>
      <p:sp>
        <p:nvSpPr>
          <p:cNvPr id="22" name="Text 20"/>
          <p:cNvSpPr/>
          <p:nvPr/>
        </p:nvSpPr>
        <p:spPr>
          <a:xfrm>
            <a:off x="5224530" y="4293691"/>
            <a:ext cx="1742535" cy="782241"/>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Attach high-margin Accessories and incentivize premium NovaBook Air/Pro tiers.</a:t>
            </a:r>
            <a:endParaRPr lang="en-US" sz="1100" dirty="0"/>
          </a:p>
        </p:txBody>
      </p:sp>
      <p:sp>
        <p:nvSpPr>
          <p:cNvPr id="23" name="Shape 21"/>
          <p:cNvSpPr/>
          <p:nvPr/>
        </p:nvSpPr>
        <p:spPr>
          <a:xfrm>
            <a:off x="7284458" y="2841625"/>
            <a:ext cx="2072628" cy="2450207"/>
          </a:xfrm>
          <a:prstGeom prst="rect">
            <a:avLst/>
          </a:prstGeom>
          <a:solidFill>
            <a:srgbClr val="17102B"/>
          </a:solidFill>
          <a:ln w="12700">
            <a:solidFill>
              <a:srgbClr val="4A3670"/>
            </a:solidFill>
            <a:prstDash val="solid"/>
          </a:ln>
        </p:spPr>
      </p:sp>
      <p:sp>
        <p:nvSpPr>
          <p:cNvPr id="24" name="Text 22"/>
          <p:cNvSpPr/>
          <p:nvPr/>
        </p:nvSpPr>
        <p:spPr>
          <a:xfrm>
            <a:off x="7449554" y="3057525"/>
            <a:ext cx="829746"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04</a:t>
            </a:r>
            <a:endParaRPr lang="en-US" sz="1400" dirty="0"/>
          </a:p>
        </p:txBody>
      </p:sp>
      <p:sp>
        <p:nvSpPr>
          <p:cNvPr id="25" name="Shape 23"/>
          <p:cNvSpPr/>
          <p:nvPr/>
        </p:nvSpPr>
        <p:spPr>
          <a:xfrm>
            <a:off x="7449554" y="3306465"/>
            <a:ext cx="1742436" cy="19050"/>
          </a:xfrm>
          <a:prstGeom prst="rect">
            <a:avLst/>
          </a:prstGeom>
          <a:solidFill>
            <a:srgbClr val="17102B"/>
          </a:solidFill>
          <a:ln/>
        </p:spPr>
      </p:sp>
      <p:sp>
        <p:nvSpPr>
          <p:cNvPr id="26" name="Text 24"/>
          <p:cNvSpPr/>
          <p:nvPr/>
        </p:nvSpPr>
        <p:spPr>
          <a:xfrm>
            <a:off x="7449554" y="3432175"/>
            <a:ext cx="1907532"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CONTROL</a:t>
            </a:r>
            <a:endParaRPr lang="en-US" sz="1050" dirty="0"/>
          </a:p>
        </p:txBody>
      </p:sp>
      <p:sp>
        <p:nvSpPr>
          <p:cNvPr id="27" name="Text 25"/>
          <p:cNvSpPr/>
          <p:nvPr/>
        </p:nvSpPr>
        <p:spPr>
          <a:xfrm>
            <a:off x="7449554" y="3691830"/>
            <a:ext cx="1742436"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10% Discount Rule</a:t>
            </a:r>
            <a:endParaRPr lang="en-US" sz="1700" dirty="0"/>
          </a:p>
        </p:txBody>
      </p:sp>
      <p:sp>
        <p:nvSpPr>
          <p:cNvPr id="28" name="Text 26"/>
          <p:cNvSpPr/>
          <p:nvPr/>
        </p:nvSpPr>
        <p:spPr>
          <a:xfrm>
            <a:off x="7449554" y="4056261"/>
            <a:ext cx="1742436" cy="58668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Set hard approval gates for discounts over 10% to prevent margin dilution.</a:t>
            </a:r>
            <a:endParaRPr lang="en-US" sz="1100" dirty="0"/>
          </a:p>
        </p:txBody>
      </p:sp>
      <p:sp>
        <p:nvSpPr>
          <p:cNvPr id="29" name="Shape 27"/>
          <p:cNvSpPr/>
          <p:nvPr/>
        </p:nvSpPr>
        <p:spPr>
          <a:xfrm>
            <a:off x="9509383" y="2841625"/>
            <a:ext cx="2072727" cy="2450207"/>
          </a:xfrm>
          <a:prstGeom prst="rect">
            <a:avLst/>
          </a:prstGeom>
          <a:solidFill>
            <a:srgbClr val="17102B"/>
          </a:solidFill>
          <a:ln w="12700">
            <a:solidFill>
              <a:srgbClr val="4A3670"/>
            </a:solidFill>
            <a:prstDash val="solid"/>
          </a:ln>
        </p:spPr>
      </p:sp>
      <p:sp>
        <p:nvSpPr>
          <p:cNvPr id="30" name="Text 28"/>
          <p:cNvSpPr/>
          <p:nvPr/>
        </p:nvSpPr>
        <p:spPr>
          <a:xfrm>
            <a:off x="9674479" y="3057525"/>
            <a:ext cx="819427"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05</a:t>
            </a:r>
            <a:endParaRPr lang="en-US" sz="1400" dirty="0"/>
          </a:p>
        </p:txBody>
      </p:sp>
      <p:sp>
        <p:nvSpPr>
          <p:cNvPr id="31" name="Shape 29"/>
          <p:cNvSpPr/>
          <p:nvPr/>
        </p:nvSpPr>
        <p:spPr>
          <a:xfrm>
            <a:off x="9674479" y="3306465"/>
            <a:ext cx="1742535" cy="19050"/>
          </a:xfrm>
          <a:prstGeom prst="rect">
            <a:avLst/>
          </a:prstGeom>
          <a:solidFill>
            <a:srgbClr val="17102B"/>
          </a:solidFill>
          <a:ln/>
        </p:spPr>
      </p:sp>
      <p:sp>
        <p:nvSpPr>
          <p:cNvPr id="32" name="Text 30"/>
          <p:cNvSpPr/>
          <p:nvPr/>
        </p:nvSpPr>
        <p:spPr>
          <a:xfrm>
            <a:off x="9674479" y="3432175"/>
            <a:ext cx="1907631"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PREPARE</a:t>
            </a:r>
            <a:endParaRPr lang="en-US" sz="1050" dirty="0"/>
          </a:p>
        </p:txBody>
      </p:sp>
      <p:sp>
        <p:nvSpPr>
          <p:cNvPr id="33" name="Text 31"/>
          <p:cNvSpPr/>
          <p:nvPr/>
        </p:nvSpPr>
        <p:spPr>
          <a:xfrm>
            <a:off x="9674479" y="3691830"/>
            <a:ext cx="1742535"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April–July Rhythm</a:t>
            </a:r>
            <a:endParaRPr lang="en-US" sz="1700" dirty="0"/>
          </a:p>
        </p:txBody>
      </p:sp>
      <p:sp>
        <p:nvSpPr>
          <p:cNvPr id="34" name="Text 32"/>
          <p:cNvSpPr/>
          <p:nvPr/>
        </p:nvSpPr>
        <p:spPr>
          <a:xfrm>
            <a:off x="9674479" y="4056261"/>
            <a:ext cx="1742535" cy="782241"/>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Align supply chain readiness and promotional campaigns ahead of peak cycles.</a:t>
            </a:r>
            <a:endParaRPr lang="en-US" sz="1100" dirty="0"/>
          </a:p>
        </p:txBody>
      </p:sp>
      <p:sp>
        <p:nvSpPr>
          <p:cNvPr id="35" name="Text 33"/>
          <p:cNvSpPr/>
          <p:nvPr/>
        </p:nvSpPr>
        <p:spPr>
          <a:xfrm>
            <a:off x="609585" y="6379071"/>
            <a:ext cx="3657509" cy="348258"/>
          </a:xfrm>
          <a:prstGeom prst="rect">
            <a:avLst/>
          </a:prstGeom>
          <a:noFill/>
          <a:ln/>
        </p:spPr>
        <p:txBody>
          <a:bodyPr wrap="square" lIns="0" tIns="0" rIns="0" bIns="0" rtlCol="0" anchor="ctr">
            <a:normAutofit/>
          </a:bodyP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NovaTech sales performance: where growth is working, and where margin is leaking</a:t>
            </a:r>
            <a:endParaRPr lang="en-US" sz="1000" dirty="0"/>
          </a:p>
        </p:txBody>
      </p:sp>
      <p:sp>
        <p:nvSpPr>
          <p:cNvPr id="36" name="Text 34"/>
          <p:cNvSpPr/>
          <p:nvPr/>
        </p:nvSpPr>
        <p:spPr>
          <a:xfrm>
            <a:off x="11507301" y="6466086"/>
            <a:ext cx="684394"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12780" y="1524000"/>
            <a:ext cx="7365816" cy="3810000"/>
          </a:xfrm>
          <a:prstGeom prst="rect">
            <a:avLst/>
          </a:prstGeom>
          <a:noFill/>
          <a:ln w="12700">
            <a:solidFill>
              <a:srgbClr val="FFFFFF">
                <a:alpha val="35000"/>
              </a:srgbClr>
            </a:solidFill>
            <a:prstDash val="solid"/>
          </a:ln>
        </p:spPr>
      </p:sp>
      <p:sp>
        <p:nvSpPr>
          <p:cNvPr id="3" name="Shape 1"/>
          <p:cNvSpPr/>
          <p:nvPr/>
        </p:nvSpPr>
        <p:spPr>
          <a:xfrm>
            <a:off x="825479" y="1536700"/>
            <a:ext cx="7340416" cy="3784600"/>
          </a:xfrm>
          <a:prstGeom prst="rect">
            <a:avLst/>
          </a:prstGeom>
          <a:solidFill>
            <a:srgbClr val="000000">
              <a:alpha val="40000"/>
            </a:srgbClr>
          </a:solidFill>
          <a:ln/>
        </p:spPr>
      </p:sp>
      <p:sp>
        <p:nvSpPr>
          <p:cNvPr id="4" name="Text 2"/>
          <p:cNvSpPr/>
          <p:nvPr/>
        </p:nvSpPr>
        <p:spPr>
          <a:xfrm>
            <a:off x="1308067" y="2344142"/>
            <a:ext cx="698482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EXECUTIVE TAKEAWAY</a:t>
            </a:r>
            <a:endParaRPr lang="en-US" sz="1050" dirty="0"/>
          </a:p>
        </p:txBody>
      </p:sp>
      <p:sp>
        <p:nvSpPr>
          <p:cNvPr id="5" name="Text 3"/>
          <p:cNvSpPr/>
          <p:nvPr/>
        </p:nvSpPr>
        <p:spPr>
          <a:xfrm>
            <a:off x="1308067" y="2603798"/>
            <a:ext cx="6375241" cy="949920"/>
          </a:xfrm>
          <a:prstGeom prst="rect">
            <a:avLst/>
          </a:prstGeom>
          <a:noFill/>
          <a:ln/>
        </p:spPr>
        <p:txBody>
          <a:bodyPr wrap="square" lIns="0" tIns="0" rIns="0" bIns="0" rtlCol="0" anchor="t">
            <a:normAutofit/>
          </a:bodyPr>
          <a:lstStyle/>
          <a:p>
            <a:pPr algn="l" indent="0" marL="0">
              <a:lnSpc>
                <a:spcPct val="92000"/>
              </a:lnSpc>
              <a:buNone/>
            </a:pPr>
            <a:r>
              <a:rPr lang="en-US" sz="3400" dirty="0">
                <a:solidFill>
                  <a:srgbClr val="FFFFFF"/>
                </a:solidFill>
                <a:latin typeface="Jost" pitchFamily="34" charset="0"/>
                <a:ea typeface="Jost" pitchFamily="34" charset="-122"/>
                <a:cs typeface="Jost" pitchFamily="34" charset="-120"/>
              </a:rPr>
              <a:t>GROW FASTER BY BEING MORE SELECTIVE</a:t>
            </a:r>
            <a:endParaRPr lang="en-US" sz="3400" dirty="0"/>
          </a:p>
        </p:txBody>
      </p:sp>
      <p:sp>
        <p:nvSpPr>
          <p:cNvPr id="6" name="Shape 4"/>
          <p:cNvSpPr/>
          <p:nvPr/>
        </p:nvSpPr>
        <p:spPr>
          <a:xfrm>
            <a:off x="1308067" y="3775968"/>
            <a:ext cx="1593711" cy="19050"/>
          </a:xfrm>
          <a:prstGeom prst="roundRect">
            <a:avLst>
              <a:gd name="adj" fmla="val 49999"/>
            </a:avLst>
          </a:prstGeom>
          <a:solidFill>
            <a:srgbClr val="4A3670"/>
          </a:solidFill>
          <a:ln/>
        </p:spPr>
      </p:sp>
      <p:sp>
        <p:nvSpPr>
          <p:cNvPr id="7" name="Text 5"/>
          <p:cNvSpPr/>
          <p:nvPr/>
        </p:nvSpPr>
        <p:spPr>
          <a:xfrm>
            <a:off x="1308067" y="3998218"/>
            <a:ext cx="6375241" cy="515541"/>
          </a:xfrm>
          <a:prstGeom prst="rect">
            <a:avLst/>
          </a:prstGeom>
          <a:noFill/>
          <a:ln/>
        </p:spPr>
        <p:txBody>
          <a:bodyPr wrap="square" lIns="0" tIns="0" rIns="0" bIns="0" rtlCol="0" anchor="t">
            <a:normAutofit/>
          </a:bodyPr>
          <a:lstStyle/>
          <a:p>
            <a:pPr algn="l" indent="0" marL="0">
              <a:lnSpc>
                <a:spcPct val="117000"/>
              </a:lnSpc>
              <a:buNone/>
            </a:pPr>
            <a:r>
              <a:rPr lang="en-US" sz="1450" dirty="0">
                <a:solidFill>
                  <a:srgbClr val="FFFFFF"/>
                </a:solidFill>
                <a:latin typeface="Bitter" pitchFamily="34" charset="0"/>
                <a:ea typeface="Bitter" pitchFamily="34" charset="-122"/>
                <a:cs typeface="Bitter" pitchFamily="34" charset="-120"/>
              </a:rPr>
              <a:t>Scale proven regional and product strengths, tighten discounting, and turn seasonal and rep-level signals into a repeatable operating plan.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2026-10-03T08:52:41Z</dcterms:created>
  <dcterms:modified xsi:type="dcterms:W3CDTF">2026-10-03T08:52:41Z</dcterms:modified>
</cp:coreProperties>
</file>